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7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123B7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8F8-4787-B38F-C52E5C81569C}"/>
              </c:ext>
            </c:extLst>
          </c:dPt>
          <c:dPt>
            <c:idx val="1"/>
            <c:invertIfNegative val="0"/>
            <c:bubble3D val="0"/>
            <c:spPr>
              <a:solidFill>
                <a:srgbClr val="0FA3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8F8-4787-B38F-C52E5C81569C}"/>
              </c:ext>
            </c:extLst>
          </c:dPt>
          <c:cat>
            <c:strRef>
              <c:f>Sheet1!$A$2:$A$3</c:f>
              <c:strCache>
                <c:ptCount val="2"/>
                <c:pt idx="0">
                  <c:v>Basic plan</c:v>
                </c:pt>
                <c:pt idx="1">
                  <c:v>Overall churn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31.81</c:v>
                </c:pt>
                <c:pt idx="1">
                  <c:v>30.67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8F8-4787-B38F-C52E5C8156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4841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36.png"/><Relationship Id="rId10" Type="http://schemas.openxmlformats.org/officeDocument/2006/relationships/image" Target="../media/image40.png"/><Relationship Id="rId4" Type="http://schemas.openxmlformats.org/officeDocument/2006/relationships/image" Target="../media/image35.png"/><Relationship Id="rId9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495300" y="845581"/>
            <a:ext cx="438150" cy="47625"/>
          </a:xfrm>
          <a:prstGeom prst="roundRect">
            <a:avLst>
              <a:gd name="adj" fmla="val 240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495300" y="1027508"/>
            <a:ext cx="409575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675"/>
              </a:spcAft>
              <a:buNone/>
            </a:pPr>
            <a:r>
              <a:rPr lang="en-US" sz="9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RETENTION ANALYTICS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5300" y="1238251"/>
            <a:ext cx="3619500" cy="6715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46"/>
              </a:lnSpc>
              <a:spcAft>
                <a:spcPts val="825"/>
              </a:spcAft>
              <a:buNone/>
            </a:pPr>
            <a:r>
              <a:rPr lang="en-US" sz="27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Churn &amp; Retention Analytics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95300" y="2015251"/>
            <a:ext cx="3429000" cy="3952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Aft>
                <a:spcPts val="1575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dashboard-driven study of churn signals, retention levers, and business decisions.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5300" y="2611517"/>
            <a:ext cx="3619500" cy="13239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/>
          <a:effectLst>
            <a:outerShdw blurRad="190500" dist="85725" dir="5400000" algn="bl" rotWithShape="0">
              <a:srgbClr val="0F172A">
                <a:alpha val="6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2759632"/>
            <a:ext cx="114300" cy="1143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8586" y="2754868"/>
            <a:ext cx="852488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Identity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47700" y="2964415"/>
            <a:ext cx="1600200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 NAME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647700" y="3105388"/>
            <a:ext cx="1600200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Name Here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362200" y="2964415"/>
            <a:ext cx="1600200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ROLL NUMBER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2362200" y="3105388"/>
            <a:ext cx="1600200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Roll No.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7700" y="3351131"/>
            <a:ext cx="1600200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DEPARTMENT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647700" y="3491866"/>
            <a:ext cx="16002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9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Information Technology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362200" y="3351131"/>
            <a:ext cx="1600200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INSTITUTION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2362200" y="3493057"/>
            <a:ext cx="160020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9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College Name / Guide Name / Academic Year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94347" y="4097894"/>
            <a:ext cx="533400" cy="238125"/>
          </a:xfrm>
          <a:prstGeom prst="roundRect">
            <a:avLst>
              <a:gd name="adj" fmla="val 48000"/>
            </a:avLst>
          </a:prstGeom>
          <a:solidFill>
            <a:srgbClr val="EAF0F6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25"/>
              </a:lnSpc>
              <a:buNone/>
            </a:pPr>
            <a:r>
              <a:rPr lang="en-US" sz="8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SQLite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93141" y="4097894"/>
            <a:ext cx="571500" cy="238125"/>
          </a:xfrm>
          <a:prstGeom prst="roundRect">
            <a:avLst>
              <a:gd name="adj" fmla="val 48000"/>
            </a:avLst>
          </a:prstGeom>
          <a:solidFill>
            <a:srgbClr val="EAF0F6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25"/>
              </a:lnSpc>
              <a:buNone/>
            </a:pPr>
            <a:r>
              <a:rPr lang="en-US" sz="8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730660" y="4097894"/>
            <a:ext cx="666750" cy="238125"/>
          </a:xfrm>
          <a:prstGeom prst="roundRect">
            <a:avLst>
              <a:gd name="adj" fmla="val 48000"/>
            </a:avLst>
          </a:prstGeom>
          <a:solidFill>
            <a:srgbClr val="EAF0F6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25"/>
              </a:lnSpc>
              <a:buNone/>
            </a:pPr>
            <a:r>
              <a:rPr lang="en-US" sz="8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BI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463077" y="4097894"/>
            <a:ext cx="409575" cy="238125"/>
          </a:xfrm>
          <a:prstGeom prst="roundRect">
            <a:avLst>
              <a:gd name="adj" fmla="val 48000"/>
            </a:avLst>
          </a:prstGeom>
          <a:solidFill>
            <a:srgbClr val="EAF0F6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25"/>
              </a:lnSpc>
              <a:buNone/>
            </a:pPr>
            <a:r>
              <a:rPr lang="en-US" sz="8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DAX</a:t>
            </a:r>
            <a:endParaRPr lang="en-US" sz="8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F172A">
              <a:alpha val="26000"/>
            </a:srgbClr>
          </a:solidFill>
          <a:ln/>
        </p:spPr>
      </p:sp>
      <p:sp>
        <p:nvSpPr>
          <p:cNvPr id="26" name="Shape 22"/>
          <p:cNvSpPr/>
          <p:nvPr/>
        </p:nvSpPr>
        <p:spPr>
          <a:xfrm>
            <a:off x="5237946" y="4176949"/>
            <a:ext cx="1176338" cy="738188"/>
          </a:xfrm>
          <a:prstGeom prst="roundRect">
            <a:avLst>
              <a:gd name="adj" fmla="val 19180"/>
            </a:avLst>
          </a:prstGeom>
          <a:solidFill>
            <a:srgbClr val="FFFFFF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3525" y="4301012"/>
            <a:ext cx="104775" cy="104775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504795" y="4281962"/>
            <a:ext cx="328613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SQLite</a:t>
            </a:r>
            <a:endParaRPr lang="en-US" sz="700" dirty="0"/>
          </a:p>
        </p:txBody>
      </p:sp>
      <p:sp>
        <p:nvSpPr>
          <p:cNvPr id="29" name="Text 24"/>
          <p:cNvSpPr/>
          <p:nvPr/>
        </p:nvSpPr>
        <p:spPr>
          <a:xfrm>
            <a:off x="5342721" y="4472224"/>
            <a:ext cx="966787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1"/>
              </a:lnSpc>
              <a:buNone/>
            </a:pPr>
            <a:r>
              <a:rPr lang="en-US" sz="6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Raw customer records and service history</a:t>
            </a:r>
            <a:endParaRPr lang="en-US" sz="600" dirty="0"/>
          </a:p>
        </p:txBody>
      </p:sp>
      <p:sp>
        <p:nvSpPr>
          <p:cNvPr id="30" name="Shape 25"/>
          <p:cNvSpPr/>
          <p:nvPr/>
        </p:nvSpPr>
        <p:spPr>
          <a:xfrm>
            <a:off x="6498429" y="4176949"/>
            <a:ext cx="1176338" cy="738188"/>
          </a:xfrm>
          <a:prstGeom prst="roundRect">
            <a:avLst>
              <a:gd name="adj" fmla="val 19180"/>
            </a:avLst>
          </a:prstGeom>
          <a:solidFill>
            <a:srgbClr val="FFFFFF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3978" y="4301012"/>
            <a:ext cx="104775" cy="104775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766499" y="4281962"/>
            <a:ext cx="36195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</a:t>
            </a:r>
            <a:endParaRPr lang="en-US" sz="700" dirty="0"/>
          </a:p>
        </p:txBody>
      </p:sp>
      <p:sp>
        <p:nvSpPr>
          <p:cNvPr id="33" name="Text 27"/>
          <p:cNvSpPr/>
          <p:nvPr/>
        </p:nvSpPr>
        <p:spPr>
          <a:xfrm>
            <a:off x="6603204" y="4472224"/>
            <a:ext cx="966787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1"/>
              </a:lnSpc>
              <a:buNone/>
            </a:pPr>
            <a:r>
              <a:rPr lang="en-US" sz="6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Cleaning, modeling, and churn feature prep</a:t>
            </a:r>
            <a:endParaRPr lang="en-US" sz="600" dirty="0"/>
          </a:p>
        </p:txBody>
      </p:sp>
      <p:sp>
        <p:nvSpPr>
          <p:cNvPr id="34" name="Shape 28"/>
          <p:cNvSpPr/>
          <p:nvPr/>
        </p:nvSpPr>
        <p:spPr>
          <a:xfrm>
            <a:off x="7758913" y="4176949"/>
            <a:ext cx="1176338" cy="738188"/>
          </a:xfrm>
          <a:prstGeom prst="roundRect">
            <a:avLst>
              <a:gd name="adj" fmla="val 19180"/>
            </a:avLst>
          </a:prstGeom>
          <a:solidFill>
            <a:srgbClr val="FFFFFF"/>
          </a:solidFill>
          <a:ln/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4492" y="4301012"/>
            <a:ext cx="104775" cy="10477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027429" y="4281962"/>
            <a:ext cx="4476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BI</a:t>
            </a:r>
            <a:endParaRPr lang="en-US" sz="700" dirty="0"/>
          </a:p>
        </p:txBody>
      </p:sp>
      <p:sp>
        <p:nvSpPr>
          <p:cNvPr id="37" name="Text 30"/>
          <p:cNvSpPr/>
          <p:nvPr/>
        </p:nvSpPr>
        <p:spPr>
          <a:xfrm>
            <a:off x="7863688" y="4471509"/>
            <a:ext cx="966787" cy="2333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1"/>
              </a:lnSpc>
              <a:buNone/>
            </a:pPr>
            <a:r>
              <a:rPr lang="en-US" sz="6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dashboard and retention insights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81000" y="343852"/>
            <a:ext cx="83820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525"/>
              </a:spcAft>
              <a:buNone/>
            </a:pPr>
            <a:r>
              <a:rPr lang="en-US" sz="9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RETENTION LENS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535957"/>
            <a:ext cx="5953125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48"/>
              </a:lnSpc>
              <a:buNone/>
            </a:pPr>
            <a:r>
              <a:rPr lang="en-US" sz="24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Customer Churn Matters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81000" y="922376"/>
            <a:ext cx="5334000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customers leave, recurring revenue, retention, and forecasting all become harder to trust.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0524" y="1608950"/>
            <a:ext cx="4281487" cy="3200400"/>
          </a:xfrm>
          <a:prstGeom prst="roundRect">
            <a:avLst>
              <a:gd name="adj" fmla="val 1190"/>
            </a:avLst>
          </a:prstGeom>
          <a:solidFill>
            <a:srgbClr val="F5F7FA"/>
          </a:solidFill>
          <a:ln/>
        </p:spPr>
      </p:sp>
      <p:sp>
        <p:nvSpPr>
          <p:cNvPr id="8" name="Text 6"/>
          <p:cNvSpPr/>
          <p:nvPr/>
        </p:nvSpPr>
        <p:spPr>
          <a:xfrm>
            <a:off x="562898" y="1787961"/>
            <a:ext cx="29051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4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Customer-to-retention flow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2898" y="1992510"/>
            <a:ext cx="2905125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simple path from active users to churn, then back to retention action.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469929" y="1850827"/>
            <a:ext cx="1009650" cy="361950"/>
          </a:xfrm>
          <a:prstGeom prst="roundRect">
            <a:avLst>
              <a:gd name="adj" fmla="val 14958"/>
            </a:avLst>
          </a:prstGeom>
          <a:solidFill>
            <a:srgbClr val="FFFFFF"/>
          </a:solidFill>
          <a:ln/>
          <a:effectLst>
            <a:outerShdw blurRad="101600" dist="4763" dir="5400000" algn="bl" rotWithShape="0">
              <a:srgbClr val="123B7A">
                <a:alpha val="6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671" y="1974652"/>
            <a:ext cx="98762" cy="1143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709809" y="1917502"/>
            <a:ext cx="685800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Retention focus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568640" y="2475013"/>
            <a:ext cx="3562350" cy="490537"/>
          </a:xfrm>
          <a:prstGeom prst="roundRect">
            <a:avLst>
              <a:gd name="adj" fmla="val 39815"/>
            </a:avLst>
          </a:prstGeom>
          <a:solidFill>
            <a:srgbClr val="FFFFFF"/>
          </a:solidFill>
          <a:ln/>
          <a:effectLst>
            <a:outerShdw blurRad="101600" dist="4763" dir="5400000" algn="bl" rotWithShape="0">
              <a:srgbClr val="123B7A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82940" y="2586930"/>
            <a:ext cx="266700" cy="266700"/>
          </a:xfrm>
          <a:prstGeom prst="roundRect">
            <a:avLst>
              <a:gd name="adj" fmla="val 27551"/>
            </a:avLst>
          </a:prstGeom>
          <a:solidFill>
            <a:srgbClr val="EAF0F6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615" y="2653605"/>
            <a:ext cx="133350" cy="1333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35186" y="2579788"/>
            <a:ext cx="151447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9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Active customers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35186" y="2735996"/>
            <a:ext cx="151447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Bef>
                <a:spcPts val="150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Subscription or service is in use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4216715" y="2591693"/>
            <a:ext cx="257175" cy="257175"/>
          </a:xfrm>
          <a:prstGeom prst="ellipse">
            <a:avLst/>
          </a:prstGeom>
          <a:solidFill>
            <a:srgbClr val="0FA3B1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8627" y="2653605"/>
            <a:ext cx="133350" cy="13335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68640" y="3049368"/>
            <a:ext cx="3562350" cy="490537"/>
          </a:xfrm>
          <a:prstGeom prst="roundRect">
            <a:avLst>
              <a:gd name="adj" fmla="val 39815"/>
            </a:avLst>
          </a:prstGeom>
          <a:solidFill>
            <a:srgbClr val="FFFFFF"/>
          </a:solidFill>
          <a:ln/>
          <a:effectLst>
            <a:outerShdw blurRad="101600" dist="4763" dir="5400000" algn="bl" rotWithShape="0">
              <a:srgbClr val="123B7A">
                <a:alpha val="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82940" y="3161286"/>
            <a:ext cx="266700" cy="266700"/>
          </a:xfrm>
          <a:prstGeom prst="roundRect">
            <a:avLst>
              <a:gd name="adj" fmla="val 27551"/>
            </a:avLst>
          </a:prstGeom>
          <a:solidFill>
            <a:srgbClr val="EAF0F6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615" y="3227961"/>
            <a:ext cx="133350" cy="1333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35008" y="3154143"/>
            <a:ext cx="190976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9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Churn event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035008" y="3310351"/>
            <a:ext cx="1909762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Bef>
                <a:spcPts val="150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discontinues the relationship</a:t>
            </a:r>
            <a:endParaRPr lang="en-US" sz="700" dirty="0"/>
          </a:p>
        </p:txBody>
      </p:sp>
      <p:sp>
        <p:nvSpPr>
          <p:cNvPr id="25" name="Shape 19"/>
          <p:cNvSpPr/>
          <p:nvPr/>
        </p:nvSpPr>
        <p:spPr>
          <a:xfrm>
            <a:off x="4216715" y="3166049"/>
            <a:ext cx="257175" cy="257175"/>
          </a:xfrm>
          <a:prstGeom prst="ellipse">
            <a:avLst/>
          </a:prstGeom>
          <a:solidFill>
            <a:srgbClr val="123B7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8627" y="3227961"/>
            <a:ext cx="133350" cy="13335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568640" y="3623726"/>
            <a:ext cx="3562350" cy="490537"/>
          </a:xfrm>
          <a:prstGeom prst="roundRect">
            <a:avLst>
              <a:gd name="adj" fmla="val 39815"/>
            </a:avLst>
          </a:prstGeom>
          <a:solidFill>
            <a:srgbClr val="FFFFFF"/>
          </a:solidFill>
          <a:ln/>
          <a:effectLst>
            <a:outerShdw blurRad="101600" dist="4763" dir="5400000" algn="bl" rotWithShape="0">
              <a:srgbClr val="123B7A">
                <a:alpha val="5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682940" y="3735644"/>
            <a:ext cx="266700" cy="266700"/>
          </a:xfrm>
          <a:prstGeom prst="roundRect">
            <a:avLst>
              <a:gd name="adj" fmla="val 27551"/>
            </a:avLst>
          </a:prstGeom>
          <a:solidFill>
            <a:srgbClr val="EAF0F6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615" y="3802319"/>
            <a:ext cx="133350" cy="13335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034591" y="3728501"/>
            <a:ext cx="202406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9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Retention action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034591" y="3884712"/>
            <a:ext cx="2024062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Bef>
                <a:spcPts val="150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risks, intervene, and recover value</a:t>
            </a:r>
            <a:endParaRPr lang="en-US" sz="700" dirty="0"/>
          </a:p>
        </p:txBody>
      </p:sp>
      <p:sp>
        <p:nvSpPr>
          <p:cNvPr id="32" name="Shape 24"/>
          <p:cNvSpPr/>
          <p:nvPr/>
        </p:nvSpPr>
        <p:spPr>
          <a:xfrm>
            <a:off x="4216715" y="3740407"/>
            <a:ext cx="257175" cy="257175"/>
          </a:xfrm>
          <a:prstGeom prst="ellipse">
            <a:avLst/>
          </a:prstGeom>
          <a:solidFill>
            <a:srgbClr val="0FA3B1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8627" y="3802319"/>
            <a:ext cx="133350" cy="13335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61320" y="4391025"/>
            <a:ext cx="2714625" cy="2571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Churn is not just a customer loss event — it is a revenue signal.</a:t>
            </a:r>
            <a:endParaRPr lang="en-US" sz="70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5288" y="4467225"/>
            <a:ext cx="91976" cy="104775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3414324" y="4417218"/>
            <a:ext cx="106680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6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BI + Python analysis</a:t>
            </a:r>
            <a:endParaRPr lang="en-US" sz="600" dirty="0"/>
          </a:p>
        </p:txBody>
      </p:sp>
      <p:sp>
        <p:nvSpPr>
          <p:cNvPr id="37" name="Shape 27"/>
          <p:cNvSpPr/>
          <p:nvPr/>
        </p:nvSpPr>
        <p:spPr>
          <a:xfrm>
            <a:off x="4890610" y="1608950"/>
            <a:ext cx="3871913" cy="3200400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/>
          <a:effectLst>
            <a:outerShdw blurRad="101600" dist="4763" dir="5400000" algn="bl" rotWithShape="0">
              <a:srgbClr val="123B7A">
                <a:alpha val="5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5080634" y="1837251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AF0F6"/>
          </a:solidFill>
          <a:ln/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37784" y="1894401"/>
            <a:ext cx="114300" cy="11430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5375641" y="1797486"/>
            <a:ext cx="250031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4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team needs to know</a:t>
            </a:r>
            <a:endParaRPr lang="en-US" sz="1100" dirty="0"/>
          </a:p>
        </p:txBody>
      </p:sp>
      <p:sp>
        <p:nvSpPr>
          <p:cNvPr id="41" name="Text 30"/>
          <p:cNvSpPr/>
          <p:nvPr/>
        </p:nvSpPr>
        <p:spPr>
          <a:xfrm>
            <a:off x="5375641" y="1962268"/>
            <a:ext cx="2500313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analysis to turn churn into clear next steps.</a:t>
            </a:r>
            <a:endParaRPr lang="en-US" sz="800" dirty="0"/>
          </a:p>
        </p:txBody>
      </p:sp>
      <p:sp>
        <p:nvSpPr>
          <p:cNvPr id="42" name="Shape 31"/>
          <p:cNvSpPr/>
          <p:nvPr/>
        </p:nvSpPr>
        <p:spPr>
          <a:xfrm>
            <a:off x="5081110" y="2209205"/>
            <a:ext cx="3490912" cy="547687"/>
          </a:xfrm>
          <a:prstGeom prst="roundRect">
            <a:avLst>
              <a:gd name="adj" fmla="val 31940"/>
            </a:avLst>
          </a:prstGeom>
          <a:solidFill>
            <a:srgbClr val="F5F7FA"/>
          </a:solidFill>
          <a:ln/>
        </p:spPr>
      </p:sp>
      <p:sp>
        <p:nvSpPr>
          <p:cNvPr id="43" name="Shape 32"/>
          <p:cNvSpPr/>
          <p:nvPr/>
        </p:nvSpPr>
        <p:spPr>
          <a:xfrm>
            <a:off x="5194934" y="2323505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123B7A"/>
          </a:solidFill>
          <a:ln/>
        </p:spPr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42559" y="2371130"/>
            <a:ext cx="104775" cy="104775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5470534" y="2322552"/>
            <a:ext cx="294322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3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leaves?</a:t>
            </a:r>
            <a:endParaRPr lang="en-US" sz="900" dirty="0"/>
          </a:p>
        </p:txBody>
      </p:sp>
      <p:sp>
        <p:nvSpPr>
          <p:cNvPr id="46" name="Text 34"/>
          <p:cNvSpPr/>
          <p:nvPr/>
        </p:nvSpPr>
        <p:spPr>
          <a:xfrm>
            <a:off x="5470534" y="2489238"/>
            <a:ext cx="294322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Spot the customer segments with the highest risk.</a:t>
            </a:r>
            <a:endParaRPr lang="en-US" sz="900" dirty="0"/>
          </a:p>
        </p:txBody>
      </p:sp>
      <p:sp>
        <p:nvSpPr>
          <p:cNvPr id="47" name="Shape 35"/>
          <p:cNvSpPr/>
          <p:nvPr/>
        </p:nvSpPr>
        <p:spPr>
          <a:xfrm>
            <a:off x="5081110" y="2853095"/>
            <a:ext cx="3490912" cy="700088"/>
          </a:xfrm>
          <a:prstGeom prst="roundRect">
            <a:avLst>
              <a:gd name="adj" fmla="val 19547"/>
            </a:avLst>
          </a:prstGeom>
          <a:solidFill>
            <a:srgbClr val="F5F7FA"/>
          </a:solidFill>
          <a:ln/>
        </p:spPr>
      </p:sp>
      <p:sp>
        <p:nvSpPr>
          <p:cNvPr id="48" name="Shape 36"/>
          <p:cNvSpPr/>
          <p:nvPr/>
        </p:nvSpPr>
        <p:spPr>
          <a:xfrm>
            <a:off x="5194934" y="2966442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0FA3B1"/>
          </a:solidFill>
          <a:ln/>
        </p:spPr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42559" y="3014067"/>
            <a:ext cx="104775" cy="104775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5471635" y="2965490"/>
            <a:ext cx="2986088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3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do they leave?</a:t>
            </a:r>
            <a:endParaRPr lang="en-US" sz="900" dirty="0"/>
          </a:p>
        </p:txBody>
      </p:sp>
      <p:sp>
        <p:nvSpPr>
          <p:cNvPr id="51" name="Text 38"/>
          <p:cNvSpPr/>
          <p:nvPr/>
        </p:nvSpPr>
        <p:spPr>
          <a:xfrm>
            <a:off x="5471635" y="3130747"/>
            <a:ext cx="2986088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 the patterns behind cancellations and inactivity.</a:t>
            </a:r>
            <a:endParaRPr lang="en-US" sz="900" dirty="0"/>
          </a:p>
        </p:txBody>
      </p:sp>
      <p:sp>
        <p:nvSpPr>
          <p:cNvPr id="52" name="Shape 39"/>
          <p:cNvSpPr/>
          <p:nvPr/>
        </p:nvSpPr>
        <p:spPr>
          <a:xfrm>
            <a:off x="5081110" y="3650337"/>
            <a:ext cx="3490912" cy="700088"/>
          </a:xfrm>
          <a:prstGeom prst="roundRect">
            <a:avLst>
              <a:gd name="adj" fmla="val 19547"/>
            </a:avLst>
          </a:prstGeom>
          <a:solidFill>
            <a:srgbClr val="EAF0F6"/>
          </a:solidFill>
          <a:ln/>
        </p:spPr>
      </p:sp>
      <p:sp>
        <p:nvSpPr>
          <p:cNvPr id="53" name="Shape 40"/>
          <p:cNvSpPr/>
          <p:nvPr/>
        </p:nvSpPr>
        <p:spPr>
          <a:xfrm>
            <a:off x="5194934" y="3763684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123B7A"/>
          </a:solidFill>
          <a:ln/>
        </p:spPr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42559" y="3811309"/>
            <a:ext cx="104775" cy="104775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5471635" y="3762732"/>
            <a:ext cx="2986088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3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much revenue is lost?</a:t>
            </a:r>
            <a:endParaRPr lang="en-US" sz="900" dirty="0"/>
          </a:p>
        </p:txBody>
      </p:sp>
      <p:sp>
        <p:nvSpPr>
          <p:cNvPr id="56" name="Text 42"/>
          <p:cNvSpPr/>
          <p:nvPr/>
        </p:nvSpPr>
        <p:spPr>
          <a:xfrm>
            <a:off x="5471635" y="3927991"/>
            <a:ext cx="2986088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Quantify recurring revenue at risk before it compounds.</a:t>
            </a:r>
            <a:endParaRPr lang="en-US" sz="900" dirty="0"/>
          </a:p>
        </p:txBody>
      </p:sp>
      <p:sp>
        <p:nvSpPr>
          <p:cNvPr id="57" name="Shape 43"/>
          <p:cNvSpPr/>
          <p:nvPr/>
        </p:nvSpPr>
        <p:spPr>
          <a:xfrm>
            <a:off x="5081110" y="4082415"/>
            <a:ext cx="3490912" cy="538163"/>
          </a:xfrm>
          <a:prstGeom prst="roundRect">
            <a:avLst>
              <a:gd name="adj" fmla="val 33080"/>
            </a:avLst>
          </a:prstGeom>
          <a:solidFill>
            <a:srgbClr val="123B7A"/>
          </a:solidFill>
          <a:ln/>
        </p:spPr>
      </p:sp>
      <p:sp>
        <p:nvSpPr>
          <p:cNvPr id="58" name="Text 44"/>
          <p:cNvSpPr/>
          <p:nvPr/>
        </p:nvSpPr>
        <p:spPr>
          <a:xfrm>
            <a:off x="5204638" y="4197667"/>
            <a:ext cx="2709863" cy="1190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8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 path</a:t>
            </a:r>
            <a:endParaRPr lang="en-US" sz="700" dirty="0"/>
          </a:p>
        </p:txBody>
      </p:sp>
      <p:sp>
        <p:nvSpPr>
          <p:cNvPr id="59" name="Text 45"/>
          <p:cNvSpPr/>
          <p:nvPr/>
        </p:nvSpPr>
        <p:spPr>
          <a:xfrm>
            <a:off x="5204638" y="4344352"/>
            <a:ext cx="2709863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25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Analysis + Power BI Dashboard</a:t>
            </a:r>
            <a:endParaRPr lang="en-US" sz="1000" dirty="0"/>
          </a:p>
        </p:txBody>
      </p:sp>
      <p:sp>
        <p:nvSpPr>
          <p:cNvPr id="60" name="Shape 46"/>
          <p:cNvSpPr/>
          <p:nvPr/>
        </p:nvSpPr>
        <p:spPr>
          <a:xfrm>
            <a:off x="8191500" y="4222907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0FA3B1"/>
          </a:solidFill>
          <a:ln/>
        </p:spPr>
      </p:sp>
      <p:pic>
        <p:nvPicPr>
          <p:cNvPr id="6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58175" y="4289582"/>
            <a:ext cx="123825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00050" y="372426"/>
            <a:ext cx="66675" cy="66675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6" name="Text 3"/>
          <p:cNvSpPr/>
          <p:nvPr/>
        </p:nvSpPr>
        <p:spPr>
          <a:xfrm>
            <a:off x="532209" y="343852"/>
            <a:ext cx="12954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9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FRAMING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00050" y="535959"/>
            <a:ext cx="571500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48"/>
              </a:lnSpc>
              <a:buNone/>
            </a:pPr>
            <a:r>
              <a:rPr lang="en-US" sz="24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 &amp; Objectives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00050" y="912851"/>
            <a:ext cx="5810250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clear viva-friendly split: what makes churn hard to see, and what this analysis will deliver.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00050" y="1575136"/>
            <a:ext cx="4067175" cy="2343150"/>
          </a:xfrm>
          <a:prstGeom prst="roundRect">
            <a:avLst>
              <a:gd name="adj" fmla="val 2221"/>
            </a:avLst>
          </a:prstGeom>
          <a:solidFill>
            <a:srgbClr val="FFFFFF"/>
          </a:solidFill>
          <a:ln w="3810">
            <a:solidFill>
              <a:srgbClr val="D9E2EC"/>
            </a:solidFill>
            <a:prstDash val="solid"/>
          </a:ln>
          <a:effectLst>
            <a:outerShdw blurRad="133350" dist="47625" dir="5400000" algn="bl" rotWithShape="0">
              <a:srgbClr val="123B7A">
                <a:alpha val="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3884" y="1779151"/>
            <a:ext cx="266700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8"/>
              </a:lnSpc>
              <a:buNone/>
            </a:pPr>
            <a:r>
              <a:rPr lang="en-US" sz="10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3884" y="1980128"/>
            <a:ext cx="2667000" cy="4619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Bef>
                <a:spcPts val="375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hard part is finding which customer groups are most likely to leave — and how much that churn costs.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920491" y="1778675"/>
            <a:ext cx="342900" cy="342900"/>
          </a:xfrm>
          <a:prstGeom prst="roundRect">
            <a:avLst>
              <a:gd name="adj" fmla="val 20370"/>
            </a:avLst>
          </a:prstGeom>
          <a:solidFill>
            <a:srgbClr val="EAF0F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0978" y="1869163"/>
            <a:ext cx="161925" cy="16192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03884" y="2618780"/>
            <a:ext cx="66675" cy="66675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15" name="Text 11"/>
          <p:cNvSpPr/>
          <p:nvPr/>
        </p:nvSpPr>
        <p:spPr>
          <a:xfrm>
            <a:off x="747712" y="2575441"/>
            <a:ext cx="3514725" cy="3667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High-churn segments are difficult to identify early.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884" y="3070264"/>
            <a:ext cx="66675" cy="66675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17" name="Text 13"/>
          <p:cNvSpPr/>
          <p:nvPr/>
        </p:nvSpPr>
        <p:spPr>
          <a:xfrm>
            <a:off x="747712" y="3026925"/>
            <a:ext cx="3514725" cy="3667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Churn impact is hard to quantify without segment-level analysis.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3884" y="3521750"/>
            <a:ext cx="66675" cy="66675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19" name="Text 15"/>
          <p:cNvSpPr/>
          <p:nvPr/>
        </p:nvSpPr>
        <p:spPr>
          <a:xfrm>
            <a:off x="747712" y="3478411"/>
            <a:ext cx="3514725" cy="3667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Without visibility, retention action stays reactive instead of targeted.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676775" y="1575136"/>
            <a:ext cx="4067175" cy="2343150"/>
          </a:xfrm>
          <a:prstGeom prst="roundRect">
            <a:avLst>
              <a:gd name="adj" fmla="val 2221"/>
            </a:avLst>
          </a:prstGeom>
          <a:solidFill>
            <a:srgbClr val="F5F7FA"/>
          </a:solidFill>
          <a:ln/>
          <a:effectLst>
            <a:outerShdw blurRad="133350" dist="47625" dir="5400000" algn="bl" rotWithShape="0">
              <a:srgbClr val="1F2937">
                <a:alpha val="4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4876800" y="1775340"/>
            <a:ext cx="266700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8"/>
              </a:lnSpc>
              <a:buNone/>
            </a:pPr>
            <a:r>
              <a:rPr lang="en-US" sz="10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Objectives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876800" y="1975366"/>
            <a:ext cx="266700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Bef>
                <a:spcPts val="375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 churn view that links metrics, drivers, and recommendations in one Power BI story.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8201025" y="1774864"/>
            <a:ext cx="342900" cy="342900"/>
          </a:xfrm>
          <a:prstGeom prst="roundRect">
            <a:avLst>
              <a:gd name="adj" fmla="val 20370"/>
            </a:avLst>
          </a:prstGeom>
          <a:solidFill>
            <a:srgbClr val="EAF0F6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1513" y="1865351"/>
            <a:ext cx="161925" cy="161925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4876800" y="2877501"/>
            <a:ext cx="66675" cy="66675"/>
          </a:xfrm>
          <a:prstGeom prst="ellipse">
            <a:avLst/>
          </a:prstGeom>
          <a:solidFill>
            <a:srgbClr val="123B7A"/>
          </a:solidFill>
          <a:ln/>
        </p:spPr>
      </p:sp>
      <p:sp>
        <p:nvSpPr>
          <p:cNvPr id="26" name="Text 21"/>
          <p:cNvSpPr/>
          <p:nvPr/>
        </p:nvSpPr>
        <p:spPr>
          <a:xfrm>
            <a:off x="5019616" y="2835591"/>
            <a:ext cx="2790825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Calculate churn and retention metrics.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876800" y="3146108"/>
            <a:ext cx="66675" cy="66675"/>
          </a:xfrm>
          <a:prstGeom prst="ellipse">
            <a:avLst/>
          </a:prstGeom>
          <a:solidFill>
            <a:srgbClr val="123B7A"/>
          </a:solidFill>
          <a:ln/>
        </p:spPr>
      </p:sp>
      <p:sp>
        <p:nvSpPr>
          <p:cNvPr id="28" name="Text 23"/>
          <p:cNvSpPr/>
          <p:nvPr/>
        </p:nvSpPr>
        <p:spPr>
          <a:xfrm>
            <a:off x="5020657" y="3104198"/>
            <a:ext cx="348615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Analyze churn by plan, contract, and geography.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4876800" y="3414712"/>
            <a:ext cx="66675" cy="66675"/>
          </a:xfrm>
          <a:prstGeom prst="ellipse">
            <a:avLst/>
          </a:prstGeom>
          <a:solidFill>
            <a:srgbClr val="123B7A"/>
          </a:solidFill>
          <a:ln/>
        </p:spPr>
      </p:sp>
      <p:sp>
        <p:nvSpPr>
          <p:cNvPr id="30" name="Text 25"/>
          <p:cNvSpPr/>
          <p:nvPr/>
        </p:nvSpPr>
        <p:spPr>
          <a:xfrm>
            <a:off x="5019675" y="3371374"/>
            <a:ext cx="3524250" cy="3667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 interactive Power BI insights with recommendations.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400050" y="4119085"/>
            <a:ext cx="8343900" cy="719137"/>
          </a:xfrm>
          <a:prstGeom prst="roundRect">
            <a:avLst>
              <a:gd name="adj" fmla="val 20210"/>
            </a:avLst>
          </a:prstGeom>
          <a:solidFill>
            <a:srgbClr val="123B7A"/>
          </a:solidFill>
          <a:ln/>
        </p:spPr>
      </p:sp>
      <p:sp>
        <p:nvSpPr>
          <p:cNvPr id="32" name="Shape 27"/>
          <p:cNvSpPr/>
          <p:nvPr/>
        </p:nvSpPr>
        <p:spPr>
          <a:xfrm>
            <a:off x="561975" y="4364355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0FA3B1"/>
          </a:solidFill>
          <a:ln/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4421505"/>
            <a:ext cx="114300" cy="11430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65644" y="4252912"/>
            <a:ext cx="5710237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Verdict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865644" y="4396262"/>
            <a:ext cx="5710237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EAF0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project turns churn from a hidden business risk into a measurable, segment-level dashboard for action.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6690179" y="4400073"/>
            <a:ext cx="1728788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→ Metrics → Insights</a:t>
            </a:r>
            <a:endParaRPr lang="en-US" sz="80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725" y="4421505"/>
            <a:ext cx="1143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395288"/>
            <a:ext cx="66675" cy="66675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5" name="Text 3"/>
          <p:cNvSpPr/>
          <p:nvPr/>
        </p:nvSpPr>
        <p:spPr>
          <a:xfrm>
            <a:off x="504825" y="358139"/>
            <a:ext cx="1460241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&amp; STRUCTURE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581680"/>
            <a:ext cx="561975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48"/>
              </a:lnSpc>
              <a:buNone/>
            </a:pPr>
            <a:r>
              <a:rPr lang="en-US" sz="24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sources, one churn dataset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81000" y="958572"/>
            <a:ext cx="5905500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SQLite tables feed a merged analytics layer built for churn analysis and model-ready fields.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1000" y="1606331"/>
            <a:ext cx="2686050" cy="2176462"/>
          </a:xfrm>
          <a:prstGeom prst="roundRect">
            <a:avLst>
              <a:gd name="adj" fmla="val 2574"/>
            </a:avLst>
          </a:prstGeom>
          <a:solidFill>
            <a:srgbClr val="FFFFFF"/>
          </a:solidFill>
          <a:ln/>
          <a:effectLst>
            <a:outerShdw blurRad="133350" dist="47625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3400" y="1768197"/>
            <a:ext cx="266700" cy="266700"/>
          </a:xfrm>
          <a:prstGeom prst="roundRect">
            <a:avLst>
              <a:gd name="adj" fmla="val 24490"/>
            </a:avLst>
          </a:prstGeom>
          <a:solidFill>
            <a:srgbClr val="EAF0F6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1834872"/>
            <a:ext cx="133350" cy="1333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6835" y="1813440"/>
            <a:ext cx="91440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2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3400" y="2140148"/>
            <a:ext cx="2238375" cy="7191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customer profile table in </a:t>
            </a:r>
            <a:r>
              <a:rPr lang="en-US" sz="10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customer_churn.db</a:t>
            </a: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anchoring identity and account-level attributes.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993113"/>
            <a:ext cx="114300" cy="1143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4850" y="2983588"/>
            <a:ext cx="1960183" cy="30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19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identifiers and profile fields</a:t>
            </a:r>
            <a:endParaRPr lang="en-US" sz="9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369350"/>
            <a:ext cx="114300" cy="1143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4850" y="3359825"/>
            <a:ext cx="1631868" cy="30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19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side of the merge key structure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3228975" y="1606331"/>
            <a:ext cx="2686050" cy="2176462"/>
          </a:xfrm>
          <a:prstGeom prst="roundRect">
            <a:avLst>
              <a:gd name="adj" fmla="val 2574"/>
            </a:avLst>
          </a:prstGeom>
          <a:solidFill>
            <a:srgbClr val="FFFFFF"/>
          </a:solidFill>
          <a:ln w="3810">
            <a:solidFill>
              <a:srgbClr val="D9E2EC"/>
            </a:solidFill>
            <a:prstDash val="solid"/>
          </a:ln>
          <a:effectLst>
            <a:outerShdw blurRad="161925" dist="66675" dir="5400000" algn="bl" rotWithShape="0">
              <a:srgbClr val="123B7A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3385184" y="1772006"/>
            <a:ext cx="266700" cy="266700"/>
          </a:xfrm>
          <a:prstGeom prst="roundRect">
            <a:avLst>
              <a:gd name="adj" fmla="val 24490"/>
            </a:avLst>
          </a:prstGeom>
          <a:solidFill>
            <a:srgbClr val="EAF0F6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1859" y="1838681"/>
            <a:ext cx="133350" cy="1333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717904" y="1817251"/>
            <a:ext cx="11620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2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Subscriptions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3385184" y="2144433"/>
            <a:ext cx="2238375" cy="538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central transaction layer, carrying plan and contract details that explain retention risk.</a:t>
            </a:r>
            <a:endParaRPr lang="en-US" sz="10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5184" y="3269456"/>
            <a:ext cx="114300" cy="1143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556634" y="3259931"/>
            <a:ext cx="1764925" cy="148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19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plan_type and contract_type</a:t>
            </a:r>
            <a:endParaRPr lang="en-US" sz="9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5184" y="3490912"/>
            <a:ext cx="114300" cy="1143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556634" y="3481388"/>
            <a:ext cx="2061209" cy="148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19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Main bridge into churn modeling</a:t>
            </a:r>
            <a:endParaRPr lang="en-US" sz="900" dirty="0"/>
          </a:p>
        </p:txBody>
      </p:sp>
      <p:sp>
        <p:nvSpPr>
          <p:cNvPr id="26" name="Shape 18"/>
          <p:cNvSpPr/>
          <p:nvPr/>
        </p:nvSpPr>
        <p:spPr>
          <a:xfrm>
            <a:off x="6076950" y="1606331"/>
            <a:ext cx="2686050" cy="2176462"/>
          </a:xfrm>
          <a:prstGeom prst="roundRect">
            <a:avLst>
              <a:gd name="adj" fmla="val 2574"/>
            </a:avLst>
          </a:prstGeom>
          <a:solidFill>
            <a:srgbClr val="FFFFFF"/>
          </a:solidFill>
          <a:ln/>
          <a:effectLst>
            <a:outerShdw blurRad="133350" dist="47625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6229350" y="1768197"/>
            <a:ext cx="266700" cy="266700"/>
          </a:xfrm>
          <a:prstGeom prst="roundRect">
            <a:avLst>
              <a:gd name="adj" fmla="val 24490"/>
            </a:avLst>
          </a:prstGeom>
          <a:solidFill>
            <a:srgbClr val="EAF0F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025" y="1834872"/>
            <a:ext cx="133350" cy="13335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563201" y="1813440"/>
            <a:ext cx="68580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2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6229350" y="2140148"/>
            <a:ext cx="2238375" cy="7191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 interaction signals that help explain escalation patterns, dissatisfaction, and churn outcomes.</a:t>
            </a:r>
            <a:endParaRPr lang="en-US" sz="100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3118484"/>
            <a:ext cx="114300" cy="11430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400800" y="3108959"/>
            <a:ext cx="2075557" cy="148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19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 history and issue context</a:t>
            </a:r>
            <a:endParaRPr lang="en-US" sz="9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3339940"/>
            <a:ext cx="114300" cy="11430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400800" y="3330415"/>
            <a:ext cx="1329449" cy="303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19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Enriches churn_score interpretation</a:t>
            </a:r>
            <a:endParaRPr lang="en-US" sz="900" dirty="0"/>
          </a:p>
        </p:txBody>
      </p:sp>
      <p:sp>
        <p:nvSpPr>
          <p:cNvPr id="35" name="Shape 24"/>
          <p:cNvSpPr/>
          <p:nvPr/>
        </p:nvSpPr>
        <p:spPr>
          <a:xfrm>
            <a:off x="381000" y="3944063"/>
            <a:ext cx="8382000" cy="895350"/>
          </a:xfrm>
          <a:prstGeom prst="roundRect">
            <a:avLst>
              <a:gd name="adj" fmla="val 1521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172A">
                <a:alpha val="5000"/>
              </a:srgbClr>
            </a:outerShdw>
          </a:effectLst>
        </p:spPr>
      </p:sp>
      <p:sp>
        <p:nvSpPr>
          <p:cNvPr id="36" name="Shape 25"/>
          <p:cNvSpPr/>
          <p:nvPr/>
        </p:nvSpPr>
        <p:spPr>
          <a:xfrm>
            <a:off x="533400" y="4253626"/>
            <a:ext cx="276225" cy="276225"/>
          </a:xfrm>
          <a:prstGeom prst="roundRect">
            <a:avLst>
              <a:gd name="adj" fmla="val 25684"/>
            </a:avLst>
          </a:prstGeom>
          <a:solidFill>
            <a:srgbClr val="123B7A"/>
          </a:solidFill>
          <a:ln/>
        </p:spPr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838" y="4325064"/>
            <a:ext cx="133350" cy="13335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886242" y="4076937"/>
            <a:ext cx="367665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4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Merged analytic view</a:t>
            </a:r>
            <a:endParaRPr lang="en-US" sz="1100" dirty="0"/>
          </a:p>
        </p:txBody>
      </p:sp>
      <p:sp>
        <p:nvSpPr>
          <p:cNvPr id="39" name="Text 27"/>
          <p:cNvSpPr/>
          <p:nvPr/>
        </p:nvSpPr>
        <p:spPr>
          <a:xfrm>
            <a:off x="886242" y="4242910"/>
            <a:ext cx="3676650" cy="4619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three tables are joined into a single final dataset with 5,021 records and 21 columns, centered on plan_type, contract_type, monthly_charges, cancellation_date, and churn_score.</a:t>
            </a:r>
            <a:endParaRPr lang="en-US" sz="900" dirty="0"/>
          </a:p>
        </p:txBody>
      </p:sp>
      <p:sp>
        <p:nvSpPr>
          <p:cNvPr id="40" name="Shape 28"/>
          <p:cNvSpPr/>
          <p:nvPr/>
        </p:nvSpPr>
        <p:spPr>
          <a:xfrm>
            <a:off x="4697193" y="4144090"/>
            <a:ext cx="1019175" cy="495300"/>
          </a:xfrm>
          <a:prstGeom prst="roundRect">
            <a:avLst>
              <a:gd name="adj" fmla="val 31953"/>
            </a:avLst>
          </a:prstGeom>
          <a:solidFill>
            <a:srgbClr val="EAF0F6"/>
          </a:solidFill>
          <a:ln/>
        </p:spPr>
      </p:sp>
      <p:sp>
        <p:nvSpPr>
          <p:cNvPr id="41" name="Text 29"/>
          <p:cNvSpPr/>
          <p:nvPr/>
        </p:nvSpPr>
        <p:spPr>
          <a:xfrm>
            <a:off x="4801968" y="4230767"/>
            <a:ext cx="809625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5"/>
              </a:lnSpc>
              <a:buNone/>
            </a:pPr>
            <a:r>
              <a:rPr lang="en-US" sz="7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DATASET</a:t>
            </a:r>
            <a:endParaRPr lang="en-US" sz="700" dirty="0"/>
          </a:p>
        </p:txBody>
      </p:sp>
      <p:sp>
        <p:nvSpPr>
          <p:cNvPr id="42" name="Text 30"/>
          <p:cNvSpPr/>
          <p:nvPr/>
        </p:nvSpPr>
        <p:spPr>
          <a:xfrm>
            <a:off x="4801968" y="4363165"/>
            <a:ext cx="8096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5"/>
              </a:lnSpc>
              <a:spcBef>
                <a:spcPts val="225"/>
              </a:spcBef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5,021 × 21</a:t>
            </a:r>
            <a:endParaRPr lang="en-US" sz="1300" dirty="0"/>
          </a:p>
        </p:txBody>
      </p:sp>
      <p:sp>
        <p:nvSpPr>
          <p:cNvPr id="43" name="Shape 31"/>
          <p:cNvSpPr/>
          <p:nvPr/>
        </p:nvSpPr>
        <p:spPr>
          <a:xfrm>
            <a:off x="5801675" y="4091701"/>
            <a:ext cx="2809875" cy="600075"/>
          </a:xfrm>
          <a:prstGeom prst="roundRect">
            <a:avLst>
              <a:gd name="adj" fmla="val 21769"/>
            </a:avLst>
          </a:prstGeom>
          <a:solidFill>
            <a:srgbClr val="F5F7FA"/>
          </a:solidFill>
          <a:ln/>
        </p:spPr>
      </p:sp>
      <p:sp>
        <p:nvSpPr>
          <p:cNvPr id="44" name="Text 32"/>
          <p:cNvSpPr/>
          <p:nvPr/>
        </p:nvSpPr>
        <p:spPr>
          <a:xfrm>
            <a:off x="5906450" y="4178617"/>
            <a:ext cx="2600325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5"/>
              </a:lnSpc>
              <a:buNone/>
            </a:pPr>
            <a:r>
              <a:rPr lang="en-US" sz="7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FIELDS</a:t>
            </a:r>
            <a:endParaRPr lang="en-US" sz="700" dirty="0"/>
          </a:p>
        </p:txBody>
      </p:sp>
      <p:sp>
        <p:nvSpPr>
          <p:cNvPr id="45" name="Text 33"/>
          <p:cNvSpPr/>
          <p:nvPr/>
        </p:nvSpPr>
        <p:spPr>
          <a:xfrm>
            <a:off x="5906450" y="4311967"/>
            <a:ext cx="260032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225"/>
              </a:spcBef>
              <a:buNone/>
            </a:pPr>
            <a:r>
              <a:rPr lang="en-US" sz="9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plan_type · contract_type · monthly_charges</a:t>
            </a:r>
            <a:endParaRPr lang="en-US" sz="900" dirty="0"/>
          </a:p>
        </p:txBody>
      </p:sp>
      <p:sp>
        <p:nvSpPr>
          <p:cNvPr id="46" name="Text 34"/>
          <p:cNvSpPr/>
          <p:nvPr/>
        </p:nvSpPr>
        <p:spPr>
          <a:xfrm>
            <a:off x="5906450" y="4472701"/>
            <a:ext cx="26003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1"/>
              </a:lnSpc>
              <a:spcBef>
                <a:spcPts val="150"/>
              </a:spcBef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cancellation_date · churn_score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81000" y="343852"/>
            <a:ext cx="561975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9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ANALYTICS WORKFLOW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534233"/>
            <a:ext cx="5334000" cy="623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48"/>
              </a:lnSpc>
              <a:buNone/>
            </a:pPr>
            <a:r>
              <a:rPr lang="en-US" sz="24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Technology Stack &amp; Project Workflow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81000" y="1223723"/>
            <a:ext cx="5619750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clean pipeline from SQLite3 data to Python analysis, then into Power BI dashboards and DAX measures.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1000" y="1857135"/>
            <a:ext cx="8382000" cy="1438275"/>
          </a:xfrm>
          <a:prstGeom prst="roundRect">
            <a:avLst>
              <a:gd name="adj" fmla="val 5894"/>
            </a:avLst>
          </a:prstGeom>
          <a:solidFill>
            <a:srgbClr val="F5F7FA"/>
          </a:solidFill>
          <a:ln/>
        </p:spPr>
      </p:sp>
      <p:sp>
        <p:nvSpPr>
          <p:cNvPr id="8" name="Shape 6"/>
          <p:cNvSpPr/>
          <p:nvPr/>
        </p:nvSpPr>
        <p:spPr>
          <a:xfrm>
            <a:off x="552450" y="2019060"/>
            <a:ext cx="209550" cy="209550"/>
          </a:xfrm>
          <a:prstGeom prst="roundRect">
            <a:avLst>
              <a:gd name="adj" fmla="val 34711"/>
            </a:avLst>
          </a:prstGeom>
          <a:solidFill>
            <a:srgbClr val="EAF0F6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8" y="2071448"/>
            <a:ext cx="104775" cy="10477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9657" y="2050017"/>
            <a:ext cx="1485900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End-to-end workflow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85458" y="2066685"/>
            <a:ext cx="3005137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moves left to right — preparation, analysis, visualization.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551259" y="2333385"/>
            <a:ext cx="1662113" cy="800100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/>
          <a:effectLst>
            <a:outerShdw blurRad="101600" dist="4763" dir="5400000" algn="bl" rotWithShape="0">
              <a:srgbClr val="123B7A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76275" y="2466735"/>
            <a:ext cx="180975" cy="180975"/>
          </a:xfrm>
          <a:prstGeom prst="roundRect">
            <a:avLst>
              <a:gd name="adj" fmla="val 39889"/>
            </a:avLst>
          </a:prstGeom>
          <a:solidFill>
            <a:srgbClr val="EAF0F6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137" y="2509598"/>
            <a:ext cx="95250" cy="952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14966" y="2483405"/>
            <a:ext cx="533400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SQLite3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75084" y="2714385"/>
            <a:ext cx="1414463" cy="2857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tables and raw records</a:t>
            </a:r>
            <a:endParaRPr lang="en-US" sz="9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8869" y="2666760"/>
            <a:ext cx="133350" cy="13335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2677716" y="2333385"/>
            <a:ext cx="1662113" cy="800100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/>
          <a:effectLst>
            <a:outerShdw blurRad="101600" dist="4763" dir="5400000" algn="bl" rotWithShape="0">
              <a:srgbClr val="123B7A">
                <a:alpha val="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802731" y="2466735"/>
            <a:ext cx="180975" cy="180975"/>
          </a:xfrm>
          <a:prstGeom prst="roundRect">
            <a:avLst>
              <a:gd name="adj" fmla="val 39889"/>
            </a:avLst>
          </a:prstGeom>
          <a:solidFill>
            <a:srgbClr val="EAF0F6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5594" y="2509598"/>
            <a:ext cx="95250" cy="952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041868" y="2483405"/>
            <a:ext cx="1071563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loading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2801541" y="2714385"/>
            <a:ext cx="1414463" cy="2857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Ingest, clean, and structure the dataset</a:t>
            </a:r>
            <a:endParaRPr lang="en-US" sz="9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5325" y="2666760"/>
            <a:ext cx="133350" cy="13335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4804172" y="2333385"/>
            <a:ext cx="1662113" cy="800100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/>
          <a:effectLst>
            <a:outerShdw blurRad="101600" dist="4763" dir="5400000" algn="bl" rotWithShape="0">
              <a:srgbClr val="123B7A">
                <a:alpha val="6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929188" y="2466735"/>
            <a:ext cx="180975" cy="180975"/>
          </a:xfrm>
          <a:prstGeom prst="roundRect">
            <a:avLst>
              <a:gd name="adj" fmla="val 39889"/>
            </a:avLst>
          </a:prstGeom>
          <a:solidFill>
            <a:srgbClr val="EAF0F6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2050" y="2509598"/>
            <a:ext cx="95250" cy="9525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166420" y="2483405"/>
            <a:ext cx="957263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Analysis layer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4927997" y="2714385"/>
            <a:ext cx="1414463" cy="2857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Pandas, NumPy, Matplotlib, Seaborn</a:t>
            </a:r>
            <a:endParaRPr lang="en-US" sz="9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1781" y="2666760"/>
            <a:ext cx="133350" cy="133350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6930628" y="2333385"/>
            <a:ext cx="1662113" cy="800100"/>
          </a:xfrm>
          <a:prstGeom prst="roundRect">
            <a:avLst>
              <a:gd name="adj" fmla="val 16327"/>
            </a:avLst>
          </a:prstGeom>
          <a:solidFill>
            <a:srgbClr val="123B7A"/>
          </a:solidFill>
          <a:ln/>
          <a:effectLst>
            <a:outerShdw blurRad="101600" dist="4763" dir="5400000" algn="bl" rotWithShape="0">
              <a:srgbClr val="123B7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7055644" y="2466735"/>
            <a:ext cx="180975" cy="180975"/>
          </a:xfrm>
          <a:prstGeom prst="roundRect">
            <a:avLst>
              <a:gd name="adj" fmla="val 39889"/>
            </a:avLst>
          </a:prstGeom>
          <a:solidFill>
            <a:srgbClr val="0FA3B1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98506" y="2509598"/>
            <a:ext cx="95250" cy="9525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293947" y="2483405"/>
            <a:ext cx="1085850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BI + DAX</a:t>
            </a:r>
            <a:endParaRPr lang="en-US" sz="1000" dirty="0"/>
          </a:p>
        </p:txBody>
      </p:sp>
      <p:sp>
        <p:nvSpPr>
          <p:cNvPr id="34" name="Text 24"/>
          <p:cNvSpPr/>
          <p:nvPr/>
        </p:nvSpPr>
        <p:spPr>
          <a:xfrm>
            <a:off x="7054453" y="2714385"/>
            <a:ext cx="1414463" cy="2857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dirty="0">
                <a:solidFill>
                  <a:srgbClr val="EAF0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delivery and KPI calculation</a:t>
            </a:r>
            <a:endParaRPr lang="en-US" sz="900" dirty="0"/>
          </a:p>
        </p:txBody>
      </p:sp>
      <p:sp>
        <p:nvSpPr>
          <p:cNvPr id="35" name="Shape 25"/>
          <p:cNvSpPr/>
          <p:nvPr/>
        </p:nvSpPr>
        <p:spPr>
          <a:xfrm>
            <a:off x="381000" y="3494483"/>
            <a:ext cx="2705100" cy="866775"/>
          </a:xfrm>
          <a:prstGeom prst="roundRect">
            <a:avLst>
              <a:gd name="adj" fmla="val 15071"/>
            </a:avLst>
          </a:prstGeom>
          <a:solidFill>
            <a:srgbClr val="FFFFFF"/>
          </a:solidFill>
          <a:ln/>
          <a:effectLst>
            <a:outerShdw blurRad="101600" dist="4763" dir="5400000" algn="bl" rotWithShape="0">
              <a:srgbClr val="123B7A">
                <a:alpha val="6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523875" y="3638310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EAF0F6"/>
          </a:solidFill>
          <a:ln/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262" y="3690698"/>
            <a:ext cx="95250" cy="9525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780514" y="3659742"/>
            <a:ext cx="1271588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1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preparation</a:t>
            </a:r>
            <a:endParaRPr lang="en-US" sz="1100" dirty="0"/>
          </a:p>
        </p:txBody>
      </p:sp>
      <p:sp>
        <p:nvSpPr>
          <p:cNvPr id="39" name="Text 28"/>
          <p:cNvSpPr/>
          <p:nvPr/>
        </p:nvSpPr>
        <p:spPr>
          <a:xfrm>
            <a:off x="523875" y="3904058"/>
            <a:ext cx="2419350" cy="3238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Pandas and NumPy shape the data for analysis.</a:t>
            </a:r>
            <a:endParaRPr lang="en-US" sz="900" dirty="0"/>
          </a:p>
        </p:txBody>
      </p:sp>
      <p:sp>
        <p:nvSpPr>
          <p:cNvPr id="40" name="Shape 29"/>
          <p:cNvSpPr/>
          <p:nvPr/>
        </p:nvSpPr>
        <p:spPr>
          <a:xfrm>
            <a:off x="3219450" y="3494483"/>
            <a:ext cx="2705100" cy="866775"/>
          </a:xfrm>
          <a:prstGeom prst="roundRect">
            <a:avLst>
              <a:gd name="adj" fmla="val 15071"/>
            </a:avLst>
          </a:prstGeom>
          <a:solidFill>
            <a:srgbClr val="FFFFFF"/>
          </a:solidFill>
          <a:ln/>
          <a:effectLst>
            <a:outerShdw blurRad="101600" dist="4763" dir="5400000" algn="bl" rotWithShape="0">
              <a:srgbClr val="123B7A">
                <a:alpha val="6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3362325" y="3638310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EAF0F6"/>
          </a:solidFill>
          <a:ln/>
        </p:spPr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4712" y="3690698"/>
            <a:ext cx="95250" cy="9525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3618607" y="3659742"/>
            <a:ext cx="96202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1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44" name="Text 32"/>
          <p:cNvSpPr/>
          <p:nvPr/>
        </p:nvSpPr>
        <p:spPr>
          <a:xfrm>
            <a:off x="3362325" y="3904058"/>
            <a:ext cx="2419350" cy="3238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Matplotlib and Seaborn support exploratory insights.</a:t>
            </a:r>
            <a:endParaRPr lang="en-US" sz="900" dirty="0"/>
          </a:p>
        </p:txBody>
      </p:sp>
      <p:sp>
        <p:nvSpPr>
          <p:cNvPr id="45" name="Shape 33"/>
          <p:cNvSpPr/>
          <p:nvPr/>
        </p:nvSpPr>
        <p:spPr>
          <a:xfrm>
            <a:off x="6057900" y="3494483"/>
            <a:ext cx="2705100" cy="866775"/>
          </a:xfrm>
          <a:prstGeom prst="roundRect">
            <a:avLst>
              <a:gd name="adj" fmla="val 15071"/>
            </a:avLst>
          </a:prstGeom>
          <a:solidFill>
            <a:srgbClr val="F5F7FA"/>
          </a:solidFill>
          <a:ln/>
        </p:spPr>
      </p:sp>
      <p:sp>
        <p:nvSpPr>
          <p:cNvPr id="46" name="Shape 34"/>
          <p:cNvSpPr/>
          <p:nvPr/>
        </p:nvSpPr>
        <p:spPr>
          <a:xfrm>
            <a:off x="6200775" y="3638310"/>
            <a:ext cx="200025" cy="200025"/>
          </a:xfrm>
          <a:prstGeom prst="roundRect">
            <a:avLst>
              <a:gd name="adj" fmla="val 38095"/>
            </a:avLst>
          </a:prstGeom>
          <a:solidFill>
            <a:srgbClr val="0FA3B1"/>
          </a:solidFill>
          <a:ln/>
        </p:spPr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3163" y="3690698"/>
            <a:ext cx="95250" cy="95250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6458724" y="3659742"/>
            <a:ext cx="79057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1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 delivery</a:t>
            </a:r>
            <a:endParaRPr lang="en-US" sz="1100" dirty="0"/>
          </a:p>
        </p:txBody>
      </p:sp>
      <p:sp>
        <p:nvSpPr>
          <p:cNvPr id="49" name="Text 36"/>
          <p:cNvSpPr/>
          <p:nvPr/>
        </p:nvSpPr>
        <p:spPr>
          <a:xfrm>
            <a:off x="6200775" y="3904058"/>
            <a:ext cx="2419350" cy="3238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BI presents the dashboard; DAX calculates KPI measures.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381000" y="343852"/>
            <a:ext cx="60960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9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PREPROCESSING &amp; FEATURE ENGINEERING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534233"/>
            <a:ext cx="5715000" cy="623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48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Raw SQLite tables became churn-ready features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81000" y="1223723"/>
            <a:ext cx="5619750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compact pipeline: clean the fields, standardize the data, and derive the churn signals used downstream.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0048" y="1909642"/>
            <a:ext cx="4486275" cy="2928938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/>
          <a:effectLst>
            <a:outerShdw blurRad="142875" dist="47625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81025" y="2160508"/>
            <a:ext cx="57150" cy="5715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96426" y="2100975"/>
            <a:ext cx="1157288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2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 steps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0073" y="2412206"/>
            <a:ext cx="4086225" cy="595313"/>
          </a:xfrm>
          <a:prstGeom prst="roundRect">
            <a:avLst>
              <a:gd name="adj" fmla="val 27034"/>
            </a:avLst>
          </a:prstGeom>
          <a:solidFill>
            <a:srgbClr val="F5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714375" y="2535316"/>
            <a:ext cx="266700" cy="266700"/>
          </a:xfrm>
          <a:prstGeom prst="roundRect">
            <a:avLst>
              <a:gd name="adj" fmla="val 24490"/>
            </a:avLst>
          </a:prstGeom>
          <a:solidFill>
            <a:srgbClr val="EAF0F6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2601991"/>
            <a:ext cx="133350" cy="1333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76266" y="2535792"/>
            <a:ext cx="32670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8"/>
              </a:lnSpc>
              <a:spcAft>
                <a:spcPts val="225"/>
              </a:spcAft>
              <a:buNone/>
            </a:pPr>
            <a:r>
              <a:rPr lang="en-US" sz="1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Load the source data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76266" y="2717483"/>
            <a:ext cx="326707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SQLite extracted in Python with SQLite3 and Pandas.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80073" y="3113960"/>
            <a:ext cx="4086225" cy="762000"/>
          </a:xfrm>
          <a:prstGeom prst="roundRect">
            <a:avLst>
              <a:gd name="adj" fmla="val 16500"/>
            </a:avLst>
          </a:prstGeom>
          <a:solidFill>
            <a:srgbClr val="F5F7FA"/>
          </a:solidFill>
          <a:ln/>
        </p:spPr>
      </p:sp>
      <p:sp>
        <p:nvSpPr>
          <p:cNvPr id="16" name="Shape 13"/>
          <p:cNvSpPr/>
          <p:nvPr/>
        </p:nvSpPr>
        <p:spPr>
          <a:xfrm>
            <a:off x="714375" y="3236833"/>
            <a:ext cx="266700" cy="266700"/>
          </a:xfrm>
          <a:prstGeom prst="roundRect">
            <a:avLst>
              <a:gd name="adj" fmla="val 24490"/>
            </a:avLst>
          </a:prstGeom>
          <a:solidFill>
            <a:srgbClr val="EAF0F6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" y="3303508"/>
            <a:ext cx="133350" cy="13335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75373" y="3237309"/>
            <a:ext cx="34575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8"/>
              </a:lnSpc>
              <a:spcAft>
                <a:spcPts val="225"/>
              </a:spcAft>
              <a:buNone/>
            </a:pPr>
            <a:r>
              <a:rPr lang="en-US" sz="1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 and standardize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075373" y="3419236"/>
            <a:ext cx="3457575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Renamed columns, filtered rows, standardized gender, converted dates.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80073" y="3982641"/>
            <a:ext cx="4086225" cy="762000"/>
          </a:xfrm>
          <a:prstGeom prst="roundRect">
            <a:avLst>
              <a:gd name="adj" fmla="val 16500"/>
            </a:avLst>
          </a:prstGeom>
          <a:solidFill>
            <a:srgbClr val="F5F7FA"/>
          </a:solidFill>
          <a:ln/>
        </p:spPr>
      </p:sp>
      <p:sp>
        <p:nvSpPr>
          <p:cNvPr id="21" name="Shape 17"/>
          <p:cNvSpPr/>
          <p:nvPr/>
        </p:nvSpPr>
        <p:spPr>
          <a:xfrm>
            <a:off x="714375" y="4105513"/>
            <a:ext cx="266700" cy="266700"/>
          </a:xfrm>
          <a:prstGeom prst="roundRect">
            <a:avLst>
              <a:gd name="adj" fmla="val 24490"/>
            </a:avLst>
          </a:prstGeom>
          <a:solidFill>
            <a:srgbClr val="EAF0F6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4172188"/>
            <a:ext cx="133350" cy="13335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75373" y="4105990"/>
            <a:ext cx="34575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8"/>
              </a:lnSpc>
              <a:spcAft>
                <a:spcPts val="225"/>
              </a:spcAft>
              <a:buNone/>
            </a:pPr>
            <a:r>
              <a:rPr lang="en-US" sz="1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churn features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075373" y="4287917"/>
            <a:ext cx="3457575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churn_flag from cancellation date and churn_risk bands: Low, Medium, High.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5094921" y="1909642"/>
            <a:ext cx="3667125" cy="2928938"/>
          </a:xfrm>
          <a:prstGeom prst="roundRect">
            <a:avLst>
              <a:gd name="adj" fmla="val 1421"/>
            </a:avLst>
          </a:prstGeom>
          <a:solidFill>
            <a:srgbClr val="0F172A"/>
          </a:solidFill>
          <a:ln/>
          <a:effectLst>
            <a:outerShdw blurRad="161925" dist="66675" dir="5400000" algn="bl" rotWithShape="0">
              <a:srgbClr val="0F172A">
                <a:alpha val="16000"/>
              </a:srgbClr>
            </a:outerShdw>
          </a:effectLst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4468" y="2105739"/>
            <a:ext cx="114300" cy="1143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46661" y="2100975"/>
            <a:ext cx="1976437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900" b="1" dirty="0">
                <a:solidFill>
                  <a:srgbClr val="EAF0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 → PROCESS → AFTER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5284468" y="2310527"/>
            <a:ext cx="2476500" cy="4286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 messy records into model-ready signals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5284468" y="2834402"/>
            <a:ext cx="2381250" cy="538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preprocessing layer makes the churn story consistent, measurable, and ready for analysis.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5285421" y="3498294"/>
            <a:ext cx="3286125" cy="500063"/>
          </a:xfrm>
          <a:prstGeom prst="roundRect">
            <a:avLst>
              <a:gd name="adj" fmla="val 34830"/>
            </a:avLst>
          </a:prstGeom>
          <a:solidFill>
            <a:srgbClr val="1C2229"/>
          </a:solidFill>
          <a:ln/>
        </p:spPr>
      </p:sp>
      <p:sp>
        <p:nvSpPr>
          <p:cNvPr id="31" name="Text 25"/>
          <p:cNvSpPr/>
          <p:nvPr/>
        </p:nvSpPr>
        <p:spPr>
          <a:xfrm>
            <a:off x="5399393" y="3602592"/>
            <a:ext cx="102870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7"/>
              </a:lnSpc>
              <a:spcAft>
                <a:spcPts val="225"/>
              </a:spcAft>
              <a:buNone/>
            </a:pPr>
            <a:r>
              <a:rPr lang="en-US" sz="800" b="1" dirty="0">
                <a:solidFill>
                  <a:srgbClr val="EAF0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5399393" y="3746421"/>
            <a:ext cx="1028700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Raw SQLite tables</a:t>
            </a:r>
            <a:endParaRPr lang="en-US" sz="9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4850" y="3681651"/>
            <a:ext cx="133350" cy="133350"/>
          </a:xfrm>
          <a:prstGeom prst="rect">
            <a:avLst/>
          </a:prstGeom>
        </p:spPr>
      </p:pic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1809" y="4075509"/>
            <a:ext cx="133350" cy="133350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5285421" y="4286012"/>
            <a:ext cx="3286125" cy="500063"/>
          </a:xfrm>
          <a:prstGeom prst="roundRect">
            <a:avLst>
              <a:gd name="adj" fmla="val 34830"/>
            </a:avLst>
          </a:prstGeom>
          <a:solidFill>
            <a:srgbClr val="1C2229"/>
          </a:solidFill>
          <a:ln/>
        </p:spPr>
      </p:sp>
      <p:sp>
        <p:nvSpPr>
          <p:cNvPr id="36" name="Text 28"/>
          <p:cNvSpPr/>
          <p:nvPr/>
        </p:nvSpPr>
        <p:spPr>
          <a:xfrm>
            <a:off x="5398649" y="4390311"/>
            <a:ext cx="20097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7"/>
              </a:lnSpc>
              <a:spcAft>
                <a:spcPts val="225"/>
              </a:spcAft>
              <a:buNone/>
            </a:pPr>
            <a:r>
              <a:rPr lang="en-US" sz="800" b="1" dirty="0">
                <a:solidFill>
                  <a:srgbClr val="EAF0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5398649" y="4534138"/>
            <a:ext cx="2009775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Rename, filter, standardize, convert</a:t>
            </a:r>
            <a:endParaRPr lang="en-US" sz="9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4850" y="4469368"/>
            <a:ext cx="133350" cy="133350"/>
          </a:xfrm>
          <a:prstGeom prst="rect">
            <a:avLst/>
          </a:prstGeom>
        </p:spPr>
      </p:pic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1809" y="4863226"/>
            <a:ext cx="133350" cy="133350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5285421" y="5073729"/>
            <a:ext cx="3286125" cy="500063"/>
          </a:xfrm>
          <a:prstGeom prst="roundRect">
            <a:avLst>
              <a:gd name="adj" fmla="val 34830"/>
            </a:avLst>
          </a:prstGeom>
          <a:solidFill>
            <a:srgbClr val="0F766E"/>
          </a:solidFill>
          <a:ln/>
        </p:spPr>
      </p:sp>
      <p:sp>
        <p:nvSpPr>
          <p:cNvPr id="41" name="Text 31"/>
          <p:cNvSpPr/>
          <p:nvPr/>
        </p:nvSpPr>
        <p:spPr>
          <a:xfrm>
            <a:off x="5399096" y="5178028"/>
            <a:ext cx="1204913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7"/>
              </a:lnSpc>
              <a:spcAft>
                <a:spcPts val="225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After</a:t>
            </a:r>
            <a:endParaRPr lang="en-US" sz="800" dirty="0"/>
          </a:p>
        </p:txBody>
      </p:sp>
      <p:sp>
        <p:nvSpPr>
          <p:cNvPr id="42" name="Text 32"/>
          <p:cNvSpPr/>
          <p:nvPr/>
        </p:nvSpPr>
        <p:spPr>
          <a:xfrm>
            <a:off x="5399096" y="5321855"/>
            <a:ext cx="1204913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E0F2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Churn flag + risk tiers</a:t>
            </a:r>
            <a:endParaRPr lang="en-US" sz="900" dirty="0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4850" y="5257085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342900" y="305752"/>
            <a:ext cx="561975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9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EXPLORATORY DATA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2900" y="496133"/>
            <a:ext cx="4667250" cy="623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48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Churn is concentrated in the Basic plan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42900" y="1185624"/>
            <a:ext cx="5238750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exploration surfaced churn, segment, and correlation patterns; plan-level churn shows where retention pressure is strongest.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3138" y="1695331"/>
            <a:ext cx="5567362" cy="3181350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/>
          <a:effectLst>
            <a:outerShdw blurRad="142875" dist="47625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149" y="1827609"/>
            <a:ext cx="2271713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Plan-wise churn comparison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149" y="1993345"/>
            <a:ext cx="2271713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Basic plan churn sits above the overall average.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948060" y="1846659"/>
            <a:ext cx="828675" cy="242888"/>
          </a:xfrm>
          <a:prstGeom prst="roundRect">
            <a:avLst>
              <a:gd name="adj" fmla="val 47059"/>
            </a:avLst>
          </a:prstGeom>
          <a:solidFill>
            <a:srgbClr val="EAF0F6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3605" y="1925241"/>
            <a:ext cx="85725" cy="8572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156955" y="1911429"/>
            <a:ext cx="544232" cy="10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13"/>
              </a:lnSpc>
              <a:buNone/>
            </a:pPr>
            <a:r>
              <a:rPr lang="en-US" sz="600" b="1" dirty="0">
                <a:solidFill>
                  <a:srgbClr val="123B7A"/>
                </a:solidFill>
                <a:highlight>
                  <a:srgbClr val="EAF0F6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EDA</a:t>
            </a:r>
            <a:endParaRPr lang="en-US" sz="6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476250" y="2193370"/>
          <a:ext cx="5300663" cy="25669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Shape 10"/>
          <p:cNvSpPr/>
          <p:nvPr/>
        </p:nvSpPr>
        <p:spPr>
          <a:xfrm>
            <a:off x="6120049" y="1694021"/>
            <a:ext cx="2681288" cy="847725"/>
          </a:xfrm>
          <a:prstGeom prst="roundRect">
            <a:avLst>
              <a:gd name="adj" fmla="val 14544"/>
            </a:avLst>
          </a:prstGeom>
          <a:solidFill>
            <a:srgbClr val="FFFFFF"/>
          </a:solidFill>
          <a:ln/>
          <a:effectLst>
            <a:outerShdw blurRad="142875" dist="47625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243874" y="1819037"/>
            <a:ext cx="2433637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5"/>
              </a:lnSpc>
              <a:buNone/>
            </a:pPr>
            <a:r>
              <a:rPr lang="en-US" sz="7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OVERALL CHURN RATE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6243874" y="1971437"/>
            <a:ext cx="2433637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21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30.67%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6243874" y="2294096"/>
            <a:ext cx="2433637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1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Baseline for the customer base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6120049" y="2644140"/>
            <a:ext cx="2681288" cy="847725"/>
          </a:xfrm>
          <a:prstGeom prst="roundRect">
            <a:avLst>
              <a:gd name="adj" fmla="val 14544"/>
            </a:avLst>
          </a:prstGeom>
          <a:solidFill>
            <a:srgbClr val="FFFFFF"/>
          </a:solidFill>
          <a:ln/>
          <a:effectLst>
            <a:outerShdw blurRad="142875" dist="47625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243874" y="2769155"/>
            <a:ext cx="2433637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5"/>
              </a:lnSpc>
              <a:buNone/>
            </a:pPr>
            <a:r>
              <a:rPr lang="en-US" sz="7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HIGHEST PLAN CHURN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6243874" y="2921555"/>
            <a:ext cx="2433637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21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31.81%</a:t>
            </a:r>
            <a:endParaRPr lang="en-US" sz="2100" dirty="0"/>
          </a:p>
        </p:txBody>
      </p:sp>
      <p:sp>
        <p:nvSpPr>
          <p:cNvPr id="21" name="Text 17"/>
          <p:cNvSpPr/>
          <p:nvPr/>
        </p:nvSpPr>
        <p:spPr>
          <a:xfrm>
            <a:off x="6243874" y="3244215"/>
            <a:ext cx="2433637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1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Basic plan leads the churn risk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6120049" y="3595568"/>
            <a:ext cx="2681288" cy="1281112"/>
          </a:xfrm>
          <a:prstGeom prst="roundRect">
            <a:avLst>
              <a:gd name="adj" fmla="val 6368"/>
            </a:avLst>
          </a:prstGeom>
          <a:solidFill>
            <a:srgbClr val="EAF0F6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3637" y="3884830"/>
            <a:ext cx="114300" cy="1143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24849" y="3884831"/>
            <a:ext cx="385763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7"/>
              </a:lnSpc>
              <a:buNone/>
            </a:pPr>
            <a:r>
              <a:rPr lang="en-US" sz="8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Insight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6253399" y="4074646"/>
            <a:ext cx="2414588" cy="514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4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 retention analysis on Basic customers first; it is the clearest churn hotspot in the EDA.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9100" y="372427"/>
            <a:ext cx="66675" cy="66675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6" name="Text 3"/>
          <p:cNvSpPr/>
          <p:nvPr/>
        </p:nvSpPr>
        <p:spPr>
          <a:xfrm>
            <a:off x="552658" y="343852"/>
            <a:ext cx="2224088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9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CHURN &amp; RETENTION OVERVIEW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9100" y="553402"/>
            <a:ext cx="5905500" cy="962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4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Retention stays strong, but churn still removes nearly one in three customers.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18862" y="1599009"/>
            <a:ext cx="158115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customers: </a:t>
            </a: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5,021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085496" y="1670447"/>
            <a:ext cx="38100" cy="38100"/>
          </a:xfrm>
          <a:prstGeom prst="ellipse">
            <a:avLst/>
          </a:prstGeom>
          <a:solidFill>
            <a:srgbClr val="D6DCE6"/>
          </a:solidFill>
          <a:ln/>
        </p:spPr>
      </p:sp>
      <p:sp>
        <p:nvSpPr>
          <p:cNvPr id="10" name="Text 7"/>
          <p:cNvSpPr/>
          <p:nvPr/>
        </p:nvSpPr>
        <p:spPr>
          <a:xfrm>
            <a:off x="2209380" y="1599009"/>
            <a:ext cx="1362075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Churn rate: </a:t>
            </a:r>
            <a:r>
              <a:rPr lang="en-US" sz="11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30.67%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242" y="1670447"/>
            <a:ext cx="38100" cy="38100"/>
          </a:xfrm>
          <a:prstGeom prst="ellipse">
            <a:avLst/>
          </a:prstGeom>
          <a:solidFill>
            <a:srgbClr val="D6DCE6"/>
          </a:solidFill>
          <a:ln/>
        </p:spPr>
      </p:sp>
      <p:sp>
        <p:nvSpPr>
          <p:cNvPr id="12" name="Text 9"/>
          <p:cNvSpPr/>
          <p:nvPr/>
        </p:nvSpPr>
        <p:spPr>
          <a:xfrm>
            <a:off x="3780114" y="1599009"/>
            <a:ext cx="1624012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Retention rate: </a:t>
            </a:r>
            <a:r>
              <a:rPr lang="en-US" sz="11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69.33%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8296" y="2082403"/>
            <a:ext cx="2643188" cy="2719387"/>
          </a:xfrm>
          <a:prstGeom prst="roundRect">
            <a:avLst>
              <a:gd name="adj" fmla="val 1745"/>
            </a:avLst>
          </a:prstGeom>
          <a:solidFill>
            <a:srgbClr val="FFFFFF"/>
          </a:solidFill>
          <a:ln/>
          <a:effectLst>
            <a:outerShdw blurRad="142875" dist="47625" dir="5400000" algn="bl" rotWithShape="0">
              <a:srgbClr val="123B7A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8439" y="2282428"/>
            <a:ext cx="121443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4"/>
              </a:lnSpc>
              <a:spcAft>
                <a:spcPts val="525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8439" y="2513647"/>
            <a:ext cx="1214438" cy="4000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35"/>
              </a:lnSpc>
              <a:buNone/>
            </a:pPr>
            <a:r>
              <a:rPr lang="en-US" sz="33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5,021</a:t>
            </a:r>
            <a:endParaRPr lang="en-US" sz="3300" dirty="0"/>
          </a:p>
        </p:txBody>
      </p:sp>
      <p:sp>
        <p:nvSpPr>
          <p:cNvPr id="16" name="Shape 13"/>
          <p:cNvSpPr/>
          <p:nvPr/>
        </p:nvSpPr>
        <p:spPr>
          <a:xfrm>
            <a:off x="2508228" y="2417207"/>
            <a:ext cx="361950" cy="361950"/>
          </a:xfrm>
          <a:prstGeom prst="roundRect">
            <a:avLst>
              <a:gd name="adj" fmla="val 18283"/>
            </a:avLst>
          </a:prstGeom>
          <a:solidFill>
            <a:srgbClr val="EAF0F6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3478" y="2512457"/>
            <a:ext cx="171450" cy="17145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09600" y="4118610"/>
            <a:ext cx="1714500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8"/>
              </a:lnSpc>
              <a:spcBef>
                <a:spcPts val="1125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population measured across the full customer set.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250375" y="2082403"/>
            <a:ext cx="2643188" cy="2719387"/>
          </a:xfrm>
          <a:prstGeom prst="roundRect">
            <a:avLst>
              <a:gd name="adj" fmla="val 1745"/>
            </a:avLst>
          </a:prstGeom>
          <a:solidFill>
            <a:srgbClr val="F5F7FA"/>
          </a:solidFill>
          <a:ln/>
          <a:effectLst>
            <a:outerShdw blurRad="142875" dist="47625" dir="5400000" algn="bl" rotWithShape="0">
              <a:srgbClr val="123B7A">
                <a:alpha val="8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3442482" y="2282428"/>
            <a:ext cx="14954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4"/>
              </a:lnSpc>
              <a:spcAft>
                <a:spcPts val="525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Churned Customers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442482" y="2513647"/>
            <a:ext cx="1495425" cy="4000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35"/>
              </a:lnSpc>
              <a:buNone/>
            </a:pPr>
            <a:r>
              <a:rPr lang="en-US" sz="33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1,540</a:t>
            </a:r>
            <a:endParaRPr lang="en-US" sz="3300" dirty="0"/>
          </a:p>
        </p:txBody>
      </p:sp>
      <p:sp>
        <p:nvSpPr>
          <p:cNvPr id="22" name="Shape 18"/>
          <p:cNvSpPr/>
          <p:nvPr/>
        </p:nvSpPr>
        <p:spPr>
          <a:xfrm>
            <a:off x="5340311" y="2417207"/>
            <a:ext cx="361950" cy="361950"/>
          </a:xfrm>
          <a:prstGeom prst="roundRect">
            <a:avLst>
              <a:gd name="adj" fmla="val 18283"/>
            </a:avLst>
          </a:prstGeom>
          <a:solidFill>
            <a:srgbClr val="EAF0F6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5561" y="2512457"/>
            <a:ext cx="171450" cy="17145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441678" y="4118610"/>
            <a:ext cx="1714500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8"/>
              </a:lnSpc>
              <a:spcBef>
                <a:spcPts val="1125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Customers lost from the active base during the period.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082458" y="2082403"/>
            <a:ext cx="2643188" cy="2719387"/>
          </a:xfrm>
          <a:prstGeom prst="roundRect">
            <a:avLst>
              <a:gd name="adj" fmla="val 1745"/>
            </a:avLst>
          </a:prstGeom>
          <a:solidFill>
            <a:srgbClr val="FFFFFF"/>
          </a:solidFill>
          <a:ln w="3810">
            <a:solidFill>
              <a:srgbClr val="DDE5EE"/>
            </a:solidFill>
            <a:prstDash val="solid"/>
          </a:ln>
          <a:effectLst>
            <a:outerShdw blurRad="142875" dist="47625" dir="5400000" algn="bl" rotWithShape="0">
              <a:srgbClr val="123B7A">
                <a:alpha val="8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6278106" y="2286238"/>
            <a:ext cx="131921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4"/>
              </a:lnSpc>
              <a:spcAft>
                <a:spcPts val="525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Active Customers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278106" y="2517457"/>
            <a:ext cx="1319213" cy="4000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35"/>
              </a:lnSpc>
              <a:buNone/>
            </a:pPr>
            <a:r>
              <a:rPr lang="en-US" sz="33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3,481</a:t>
            </a:r>
            <a:endParaRPr lang="en-US" sz="3300" dirty="0"/>
          </a:p>
        </p:txBody>
      </p:sp>
      <p:sp>
        <p:nvSpPr>
          <p:cNvPr id="28" name="Shape 23"/>
          <p:cNvSpPr/>
          <p:nvPr/>
        </p:nvSpPr>
        <p:spPr>
          <a:xfrm>
            <a:off x="8168580" y="2421017"/>
            <a:ext cx="361950" cy="361950"/>
          </a:xfrm>
          <a:prstGeom prst="roundRect">
            <a:avLst>
              <a:gd name="adj" fmla="val 18283"/>
            </a:avLst>
          </a:prstGeom>
          <a:solidFill>
            <a:srgbClr val="EAF0F6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3830" y="2516267"/>
            <a:ext cx="171450" cy="17145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277570" y="4114800"/>
            <a:ext cx="1714500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8"/>
              </a:lnSpc>
              <a:spcBef>
                <a:spcPts val="1125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Customers retained and still contributing to the base.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00050" y="372427"/>
            <a:ext cx="66675" cy="66675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6" name="Text 3"/>
          <p:cNvSpPr/>
          <p:nvPr/>
        </p:nvSpPr>
        <p:spPr>
          <a:xfrm>
            <a:off x="523667" y="343852"/>
            <a:ext cx="1214438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9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AT RISK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00050" y="534918"/>
            <a:ext cx="5619750" cy="628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72"/>
              </a:lnSpc>
              <a:buNone/>
            </a:pPr>
            <a:r>
              <a:rPr lang="en-US" sz="24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Churn is putting </a:t>
            </a:r>
            <a:r>
              <a:rPr lang="en-US" sz="24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₹77,089</a:t>
            </a:r>
            <a:r>
              <a:rPr lang="en-US" sz="24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of monthly revenue at risk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00050" y="1229856"/>
            <a:ext cx="5334000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That translates to an estimated </a:t>
            </a:r>
            <a:r>
              <a:rPr lang="en-US" sz="11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₹9.25 lakh per year</a:t>
            </a: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if the current churn pattern persists.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01003" y="1891278"/>
            <a:ext cx="4471988" cy="2947987"/>
          </a:xfrm>
          <a:prstGeom prst="roundRect">
            <a:avLst>
              <a:gd name="adj" fmla="val 1604"/>
            </a:avLst>
          </a:prstGeom>
          <a:solidFill>
            <a:srgbClr val="FFFFFF"/>
          </a:solidFill>
          <a:ln/>
          <a:effectLst>
            <a:outerShdw blurRad="190500" dist="85725" dir="5400000" algn="bl" rotWithShape="0">
              <a:srgbClr val="123B7A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0137" y="2100441"/>
            <a:ext cx="1652587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Monthly revenue at risk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5231" y="2119491"/>
            <a:ext cx="123825" cy="1238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6204" y="2124254"/>
            <a:ext cx="719137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7"/>
              </a:lnSpc>
              <a:buNone/>
            </a:pPr>
            <a:r>
              <a:rPr lang="en-US" sz="8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Churn-linked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19512" y="2599313"/>
            <a:ext cx="1833562" cy="4429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91"/>
              </a:lnSpc>
              <a:buNone/>
            </a:pPr>
            <a:r>
              <a:rPr lang="en-US" sz="36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₹77,089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2539185" y="2375713"/>
            <a:ext cx="1524000" cy="6667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9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exposed each month when customers with churn_flag = 1 are counted.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20078" y="4025265"/>
            <a:ext cx="4033837" cy="604837"/>
          </a:xfrm>
          <a:prstGeom prst="roundRect">
            <a:avLst>
              <a:gd name="adj" fmla="val 26189"/>
            </a:avLst>
          </a:prstGeom>
          <a:solidFill>
            <a:srgbClr val="EAF0F6"/>
          </a:solidFill>
          <a:ln/>
        </p:spPr>
      </p:sp>
      <p:sp>
        <p:nvSpPr>
          <p:cNvPr id="16" name="Shape 12"/>
          <p:cNvSpPr/>
          <p:nvPr/>
        </p:nvSpPr>
        <p:spPr>
          <a:xfrm>
            <a:off x="733425" y="4213384"/>
            <a:ext cx="228600" cy="228600"/>
          </a:xfrm>
          <a:prstGeom prst="roundRect">
            <a:avLst>
              <a:gd name="adj" fmla="val 29167"/>
            </a:avLst>
          </a:prstGeom>
          <a:solidFill>
            <a:srgbClr val="123B7A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5" y="4270534"/>
            <a:ext cx="114300" cy="1143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29653" y="4130040"/>
            <a:ext cx="3509963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Protect the premium base first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029653" y="4262438"/>
            <a:ext cx="3509963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1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Premium customers contribute the largest revenue affected by churn.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5082537" y="1891844"/>
            <a:ext cx="3662362" cy="1209675"/>
          </a:xfrm>
          <a:prstGeom prst="roundRect">
            <a:avLst>
              <a:gd name="adj" fmla="val 8928"/>
            </a:avLst>
          </a:prstGeom>
          <a:solidFill>
            <a:srgbClr val="F5F7FA"/>
          </a:solidFill>
          <a:ln/>
        </p:spPr>
      </p:sp>
      <p:sp>
        <p:nvSpPr>
          <p:cNvPr id="21" name="Shape 16"/>
          <p:cNvSpPr/>
          <p:nvPr/>
        </p:nvSpPr>
        <p:spPr>
          <a:xfrm>
            <a:off x="5245415" y="2053769"/>
            <a:ext cx="200025" cy="200025"/>
          </a:xfrm>
          <a:prstGeom prst="roundRect">
            <a:avLst>
              <a:gd name="adj" fmla="val 32653"/>
            </a:avLst>
          </a:prstGeom>
          <a:solidFill>
            <a:srgbClr val="0FA3B1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3040" y="2101394"/>
            <a:ext cx="104775" cy="1047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01905" y="2077581"/>
            <a:ext cx="1319213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8"/>
              </a:lnSpc>
              <a:buNone/>
            </a:pPr>
            <a:r>
              <a:rPr lang="en-US" sz="10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Annualized impact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244462" y="2320469"/>
            <a:ext cx="3338513" cy="2667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₹9.25 lakh</a:t>
            </a:r>
            <a:endParaRPr lang="en-US" sz="2100" dirty="0"/>
          </a:p>
        </p:txBody>
      </p:sp>
      <p:sp>
        <p:nvSpPr>
          <p:cNvPr id="25" name="Text 19"/>
          <p:cNvSpPr/>
          <p:nvPr/>
        </p:nvSpPr>
        <p:spPr>
          <a:xfrm>
            <a:off x="5244462" y="2653844"/>
            <a:ext cx="3338513" cy="2857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Approximate yearly impact from the current monthly risk.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5082537" y="3235583"/>
            <a:ext cx="3662362" cy="1385888"/>
          </a:xfrm>
          <a:prstGeom prst="roundRect">
            <a:avLst>
              <a:gd name="adj" fmla="val 6802"/>
            </a:avLst>
          </a:prstGeom>
          <a:solidFill>
            <a:srgbClr val="FFFFFF"/>
          </a:solidFill>
          <a:ln/>
          <a:effectLst>
            <a:outerShdw blurRad="152400" dist="66675" dir="5400000" algn="bl" rotWithShape="0">
              <a:srgbClr val="1F2937">
                <a:alpha val="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245415" y="3396794"/>
            <a:ext cx="200025" cy="200025"/>
          </a:xfrm>
          <a:prstGeom prst="roundRect">
            <a:avLst>
              <a:gd name="adj" fmla="val 32653"/>
            </a:avLst>
          </a:prstGeom>
          <a:solidFill>
            <a:srgbClr val="123B7A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3040" y="3444419"/>
            <a:ext cx="104775" cy="10477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501578" y="3420606"/>
            <a:ext cx="1071563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8"/>
              </a:lnSpc>
              <a:buNone/>
            </a:pPr>
            <a:r>
              <a:rPr lang="en-US" sz="10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to focus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5244462" y="3683258"/>
            <a:ext cx="3338513" cy="5000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premium accounts showing churn signals early, then prioritize retention before revenue leaks compound.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5244581" y="4269760"/>
            <a:ext cx="1081087" cy="190500"/>
          </a:xfrm>
          <a:prstGeom prst="roundRect">
            <a:avLst>
              <a:gd name="adj" fmla="val 60000"/>
            </a:avLst>
          </a:prstGeom>
          <a:solidFill>
            <a:srgbClr val="EAF0F6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7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Premium accounts</a:t>
            </a:r>
            <a:endParaRPr lang="en-US" sz="700" dirty="0"/>
          </a:p>
        </p:txBody>
      </p:sp>
      <p:sp>
        <p:nvSpPr>
          <p:cNvPr id="32" name="Text 25"/>
          <p:cNvSpPr/>
          <p:nvPr/>
        </p:nvSpPr>
        <p:spPr>
          <a:xfrm>
            <a:off x="6371659" y="4269760"/>
            <a:ext cx="1081087" cy="190500"/>
          </a:xfrm>
          <a:prstGeom prst="roundRect">
            <a:avLst>
              <a:gd name="adj" fmla="val 60000"/>
            </a:avLst>
          </a:prstGeom>
          <a:solidFill>
            <a:srgbClr val="EAF0F6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7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Early churn signals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342900" y="305752"/>
            <a:ext cx="84582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9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 POWER BI DASHBOARD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2900" y="496133"/>
            <a:ext cx="6286500" cy="623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48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Churn, retention, and revenue risk in one executive view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42900" y="1185624"/>
            <a:ext cx="6096000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Prominently place the dashboard screenshot, then use short callouts to explain filters, KPI cards, and the main churn views.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" y="1732895"/>
            <a:ext cx="8458200" cy="1743075"/>
          </a:xfrm>
          <a:prstGeom prst="roundRect">
            <a:avLst>
              <a:gd name="adj" fmla="val 4013"/>
            </a:avLst>
          </a:prstGeom>
          <a:solidFill>
            <a:srgbClr val="FFFFFF"/>
          </a:solidFill>
          <a:ln/>
          <a:effectLst>
            <a:outerShdw blurRad="171450" dist="66675" dir="5400000" algn="bl" rotWithShape="0">
              <a:srgbClr val="0F172A">
                <a:alpha val="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866245"/>
            <a:ext cx="8191500" cy="147637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43376" y="3666589"/>
            <a:ext cx="4752975" cy="1209675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/>
          <a:effectLst>
            <a:outerShdw blurRad="133350" dist="47625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4825" y="3934718"/>
            <a:ext cx="66675" cy="66675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8"/>
          <p:cNvSpPr/>
          <p:nvPr/>
        </p:nvSpPr>
        <p:spPr>
          <a:xfrm>
            <a:off x="636984" y="3884712"/>
            <a:ext cx="235743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dashboard answers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4825" y="4119503"/>
            <a:ext cx="4095750" cy="538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connects customer health to business risk: who is leaving, where churn concentrates, and which segments deserve immediate action.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286852" y="3666589"/>
            <a:ext cx="3514725" cy="1209675"/>
          </a:xfrm>
          <a:prstGeom prst="roundRect">
            <a:avLst>
              <a:gd name="adj" fmla="val 7142"/>
            </a:avLst>
          </a:prstGeom>
          <a:solidFill>
            <a:srgbClr val="EAF0F6"/>
          </a:solidFill>
          <a:ln/>
          <a:effectLst>
            <a:outerShdw blurRad="133350" dist="47625" dir="5400000" algn="bl" rotWithShape="0">
              <a:srgbClr val="0F172A">
                <a:alpha val="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439252" y="3813751"/>
            <a:ext cx="3209925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Filters stay executive-friendly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39252" y="4047113"/>
            <a:ext cx="3209925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Type, Gender, Contract Type, and State keep the view interactive without crowding the page.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39252" y="4466689"/>
            <a:ext cx="3209925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1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the screenshot as the primary visual, then speak to the two most important actions.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419100" y="343852"/>
            <a:ext cx="83058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525"/>
              </a:spcAft>
              <a:buNone/>
            </a:pPr>
            <a:r>
              <a:rPr lang="en-US" sz="9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BI DAX MEASURES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9100" y="534888"/>
            <a:ext cx="6191250" cy="628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72"/>
              </a:lnSpc>
              <a:buNone/>
            </a:pPr>
            <a:r>
              <a:rPr lang="en-US" sz="24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churn, retention, and risk from a few reusable measures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9100" y="1248370"/>
            <a:ext cx="5619750" cy="3667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675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Keep the logic readable: count customers, isolate churned rows, protect ratios with </a:t>
            </a: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DIVIDE</a:t>
            </a: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then surface revenue at risk with one filter.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7909" y="1881247"/>
            <a:ext cx="5062538" cy="2957513"/>
          </a:xfrm>
          <a:prstGeom prst="roundRect">
            <a:avLst>
              <a:gd name="adj" fmla="val 1394"/>
            </a:avLst>
          </a:prstGeom>
          <a:solidFill>
            <a:srgbClr val="FFFFFF"/>
          </a:solidFill>
          <a:ln/>
          <a:effectLst>
            <a:outerShdw blurRad="142875" dist="47625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9691" y="2072283"/>
            <a:ext cx="277177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 pattern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9691" y="2268498"/>
            <a:ext cx="2771775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Short formulas that stay easy to audit and reuse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36989" y="2108478"/>
            <a:ext cx="542925" cy="271463"/>
          </a:xfrm>
          <a:prstGeom prst="roundRect">
            <a:avLst>
              <a:gd name="adj" fmla="val 26593"/>
            </a:avLst>
          </a:prstGeom>
          <a:solidFill>
            <a:srgbClr val="EAF0F6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3874" y="2191821"/>
            <a:ext cx="104775" cy="10477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966274" y="2177058"/>
            <a:ext cx="236758" cy="129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123B7A"/>
                </a:solidFill>
                <a:highlight>
                  <a:srgbClr val="EAF0F6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DAX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17934" y="2540675"/>
            <a:ext cx="4662488" cy="376238"/>
          </a:xfrm>
          <a:prstGeom prst="roundRect">
            <a:avLst>
              <a:gd name="adj" fmla="val 16920"/>
            </a:avLst>
          </a:prstGeom>
          <a:solidFill>
            <a:srgbClr val="F8FAFC"/>
          </a:solidFill>
          <a:ln/>
        </p:spPr>
      </p:sp>
      <p:sp>
        <p:nvSpPr>
          <p:cNvPr id="15" name="Text 12"/>
          <p:cNvSpPr/>
          <p:nvPr/>
        </p:nvSpPr>
        <p:spPr>
          <a:xfrm>
            <a:off x="733425" y="2644259"/>
            <a:ext cx="12382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8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Customers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065734" y="2645450"/>
            <a:ext cx="3100388" cy="16668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COUNTROWS(Sheet1)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17934" y="3003114"/>
            <a:ext cx="4662488" cy="376238"/>
          </a:xfrm>
          <a:prstGeom prst="roundRect">
            <a:avLst>
              <a:gd name="adj" fmla="val 16920"/>
            </a:avLst>
          </a:prstGeom>
          <a:solidFill>
            <a:srgbClr val="F8FAFC"/>
          </a:solidFill>
          <a:ln/>
        </p:spPr>
      </p:sp>
      <p:sp>
        <p:nvSpPr>
          <p:cNvPr id="18" name="Text 15"/>
          <p:cNvSpPr/>
          <p:nvPr/>
        </p:nvSpPr>
        <p:spPr>
          <a:xfrm>
            <a:off x="733425" y="3106698"/>
            <a:ext cx="12382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8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Churned Customers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065734" y="3107889"/>
            <a:ext cx="3100388" cy="16668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CALCULATE(COUNTROWS(Sheet1), Sheet1[churn_flag] = 1)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17934" y="3465552"/>
            <a:ext cx="4662488" cy="685800"/>
          </a:xfrm>
          <a:prstGeom prst="roundRect">
            <a:avLst>
              <a:gd name="adj" fmla="val 20370"/>
            </a:avLst>
          </a:prstGeom>
          <a:solidFill>
            <a:srgbClr val="F8FAFC"/>
          </a:solidFill>
          <a:ln/>
        </p:spPr>
      </p:sp>
      <p:sp>
        <p:nvSpPr>
          <p:cNvPr id="21" name="Text 18"/>
          <p:cNvSpPr/>
          <p:nvPr/>
        </p:nvSpPr>
        <p:spPr>
          <a:xfrm>
            <a:off x="733425" y="3570565"/>
            <a:ext cx="1238250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8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Churn Rate / Retention Rate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065734" y="3570327"/>
            <a:ext cx="310038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DIVIDE(churned customers, total customers)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065734" y="3784878"/>
            <a:ext cx="3100388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1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Safe division keeps blanks and zero totals from breaking the report.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617934" y="4237553"/>
            <a:ext cx="4662488" cy="685800"/>
          </a:xfrm>
          <a:prstGeom prst="roundRect">
            <a:avLst>
              <a:gd name="adj" fmla="val 20370"/>
            </a:avLst>
          </a:prstGeom>
          <a:solidFill>
            <a:srgbClr val="F8FAFC"/>
          </a:solidFill>
          <a:ln/>
        </p:spPr>
      </p:sp>
      <p:sp>
        <p:nvSpPr>
          <p:cNvPr id="25" name="Text 22"/>
          <p:cNvSpPr/>
          <p:nvPr/>
        </p:nvSpPr>
        <p:spPr>
          <a:xfrm>
            <a:off x="733425" y="4341138"/>
            <a:ext cx="12382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8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at Risk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2065734" y="4342328"/>
            <a:ext cx="310038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Monaco" pitchFamily="34" charset="0"/>
                <a:ea typeface="Monaco" pitchFamily="34" charset="-122"/>
                <a:cs typeface="Monaco" pitchFamily="34" charset="-120"/>
              </a:rPr>
              <a:t>SUMX(churned rows, monthly_charges)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065734" y="4556879"/>
            <a:ext cx="3100388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1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Shows the financial impact of churn, not just the customer count.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687616" y="1880771"/>
            <a:ext cx="3038475" cy="1914525"/>
          </a:xfrm>
          <a:prstGeom prst="roundRect">
            <a:avLst>
              <a:gd name="adj" fmla="val 3327"/>
            </a:avLst>
          </a:prstGeom>
          <a:solidFill>
            <a:srgbClr val="FFFFFF"/>
          </a:solidFill>
          <a:ln/>
          <a:effectLst>
            <a:outerShdw blurRad="142875" dist="47625" dir="5400000" algn="bl" rotWithShape="0">
              <a:srgbClr val="0F172A">
                <a:alpha val="6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5849541" y="2053233"/>
            <a:ext cx="27146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spcAft>
                <a:spcPts val="825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to read it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850731" y="2325171"/>
            <a:ext cx="161925" cy="161925"/>
          </a:xfrm>
          <a:prstGeom prst="roundRect">
            <a:avLst>
              <a:gd name="adj" fmla="val 41522"/>
            </a:avLst>
          </a:prstGeom>
          <a:solidFill>
            <a:srgbClr val="EAF0F6"/>
          </a:solidFill>
          <a:ln/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069" y="2358509"/>
            <a:ext cx="95250" cy="9525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6087904" y="2326124"/>
            <a:ext cx="1833562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Count the base population first.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5850731" y="2572821"/>
            <a:ext cx="161925" cy="161925"/>
          </a:xfrm>
          <a:prstGeom prst="roundRect">
            <a:avLst>
              <a:gd name="adj" fmla="val 41522"/>
            </a:avLst>
          </a:prstGeom>
          <a:solidFill>
            <a:srgbClr val="EAF0F6"/>
          </a:solidFill>
          <a:ln/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069" y="2606159"/>
            <a:ext cx="95250" cy="9525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087785" y="2573774"/>
            <a:ext cx="2243138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CALCULATE to filter churned rows.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5850731" y="2820471"/>
            <a:ext cx="161925" cy="161925"/>
          </a:xfrm>
          <a:prstGeom prst="roundRect">
            <a:avLst>
              <a:gd name="adj" fmla="val 41522"/>
            </a:avLst>
          </a:prstGeom>
          <a:solidFill>
            <a:srgbClr val="EAF0F6"/>
          </a:solidFill>
          <a:ln/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069" y="2853809"/>
            <a:ext cx="95250" cy="9525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089452" y="2821424"/>
            <a:ext cx="188595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DIVIDE for ratios with safety.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5687616" y="3909536"/>
            <a:ext cx="3038475" cy="928688"/>
          </a:xfrm>
          <a:prstGeom prst="roundRect">
            <a:avLst>
              <a:gd name="adj" fmla="val 14138"/>
            </a:avLst>
          </a:prstGeom>
          <a:solidFill>
            <a:srgbClr val="123B7A"/>
          </a:solidFill>
          <a:ln/>
          <a:effectLst>
            <a:outerShdw blurRad="142875" dist="47625" dir="5400000" algn="bl" rotWithShape="0">
              <a:srgbClr val="123B7A">
                <a:alpha val="18000"/>
              </a:srgbClr>
            </a:outerShdw>
          </a:effectLst>
        </p:spPr>
      </p:sp>
      <p:sp>
        <p:nvSpPr>
          <p:cNvPr id="40" name="Text 34"/>
          <p:cNvSpPr/>
          <p:nvPr/>
        </p:nvSpPr>
        <p:spPr>
          <a:xfrm>
            <a:off x="5830491" y="4042886"/>
            <a:ext cx="275272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7"/>
              </a:lnSpc>
              <a:spcAft>
                <a:spcPts val="375"/>
              </a:spcAft>
              <a:buNone/>
            </a:pPr>
            <a:r>
              <a:rPr lang="en-US" sz="800" b="1" dirty="0">
                <a:solidFill>
                  <a:srgbClr val="9FBA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PRESENTER TAKEAWAY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5830491" y="4205288"/>
            <a:ext cx="2752725" cy="5000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3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Reusable measures make churn analysis fast, explainable, and dashboard-friendly.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" name="Text 2"/>
          <p:cNvSpPr/>
          <p:nvPr/>
        </p:nvSpPr>
        <p:spPr>
          <a:xfrm>
            <a:off x="381000" y="342900"/>
            <a:ext cx="838200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CHURN COMPARISON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522803"/>
            <a:ext cx="5334000" cy="3190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96"/>
              </a:lnSpc>
              <a:buNone/>
            </a:pPr>
            <a:r>
              <a:rPr lang="en-US" sz="24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Is Churn Highest?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81000" y="907495"/>
            <a:ext cx="5619750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Basic leads the plan mix, while monthly contracts remain the clearer churn risk.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0881" y="1568649"/>
            <a:ext cx="4576763" cy="2362200"/>
          </a:xfrm>
          <a:prstGeom prst="roundRect">
            <a:avLst>
              <a:gd name="adj" fmla="val 2185"/>
            </a:avLst>
          </a:prstGeom>
          <a:solidFill>
            <a:srgbClr val="FFFFFF"/>
          </a:solidFill>
          <a:ln/>
          <a:effectLst>
            <a:outerShdw blurRad="190500" dist="85725" dir="5400000" algn="bl" rotWithShape="0">
              <a:srgbClr val="123B7A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2095" y="1749981"/>
            <a:ext cx="1966912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Plan-wise churn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2095" y="1944767"/>
            <a:ext cx="1966912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375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Small spread, but Basic is highest.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47850" y="1750457"/>
            <a:ext cx="1019175" cy="457200"/>
          </a:xfrm>
          <a:prstGeom prst="roundRect">
            <a:avLst>
              <a:gd name="adj" fmla="val 9375"/>
            </a:avLst>
          </a:prstGeom>
          <a:solidFill>
            <a:srgbClr val="EAF0F6"/>
          </a:solidFill>
          <a:ln/>
        </p:spPr>
      </p:sp>
      <p:sp>
        <p:nvSpPr>
          <p:cNvPr id="11" name="Text 9"/>
          <p:cNvSpPr/>
          <p:nvPr/>
        </p:nvSpPr>
        <p:spPr>
          <a:xfrm>
            <a:off x="3833575" y="1817132"/>
            <a:ext cx="847725" cy="952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750"/>
              </a:lnSpc>
              <a:buNone/>
            </a:pPr>
            <a:r>
              <a:rPr lang="en-US" sz="7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HIGHEST PLAN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833575" y="1950482"/>
            <a:ext cx="8477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31.81%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71381" y="2341483"/>
            <a:ext cx="4195762" cy="481012"/>
          </a:xfrm>
          <a:prstGeom prst="roundRect">
            <a:avLst>
              <a:gd name="adj" fmla="val 37643"/>
            </a:avLst>
          </a:prstGeom>
          <a:solidFill>
            <a:srgbClr val="F5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2543890"/>
            <a:ext cx="76200" cy="76200"/>
          </a:xfrm>
          <a:prstGeom prst="ellipse">
            <a:avLst/>
          </a:prstGeom>
          <a:solidFill>
            <a:srgbClr val="123B7A"/>
          </a:solidFill>
          <a:ln/>
        </p:spPr>
      </p:sp>
      <p:sp>
        <p:nvSpPr>
          <p:cNvPr id="15" name="Text 13"/>
          <p:cNvSpPr/>
          <p:nvPr/>
        </p:nvSpPr>
        <p:spPr>
          <a:xfrm>
            <a:off x="838319" y="2445306"/>
            <a:ext cx="1547813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Basic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8319" y="2593420"/>
            <a:ext cx="1547813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Highest churn in the plan set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924330" y="2467690"/>
            <a:ext cx="728663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31.81%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71381" y="2909173"/>
            <a:ext cx="4195762" cy="481012"/>
          </a:xfrm>
          <a:prstGeom prst="roundRect">
            <a:avLst>
              <a:gd name="adj" fmla="val 37643"/>
            </a:avLst>
          </a:prstGeom>
          <a:solidFill>
            <a:srgbClr val="F5F7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111580"/>
            <a:ext cx="76200" cy="76200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20" name="Text 18"/>
          <p:cNvSpPr/>
          <p:nvPr/>
        </p:nvSpPr>
        <p:spPr>
          <a:xfrm>
            <a:off x="838230" y="3012996"/>
            <a:ext cx="1062038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8230" y="3161110"/>
            <a:ext cx="1062038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Slightly below Basic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795979" y="3035380"/>
            <a:ext cx="857250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30.48%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71381" y="3476863"/>
            <a:ext cx="4195762" cy="481012"/>
          </a:xfrm>
          <a:prstGeom prst="roundRect">
            <a:avLst>
              <a:gd name="adj" fmla="val 37643"/>
            </a:avLst>
          </a:prstGeom>
          <a:solidFill>
            <a:srgbClr val="F5F7FA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3679270"/>
            <a:ext cx="76200" cy="76200"/>
          </a:xfrm>
          <a:prstGeom prst="ellipse">
            <a:avLst/>
          </a:prstGeom>
          <a:solidFill>
            <a:srgbClr val="7A8FA6"/>
          </a:solidFill>
          <a:ln/>
        </p:spPr>
      </p:sp>
      <p:sp>
        <p:nvSpPr>
          <p:cNvPr id="25" name="Text 23"/>
          <p:cNvSpPr/>
          <p:nvPr/>
        </p:nvSpPr>
        <p:spPr>
          <a:xfrm>
            <a:off x="838766" y="3580685"/>
            <a:ext cx="1309687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Premium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8766" y="3728799"/>
            <a:ext cx="1309687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Lowest among the three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833899" y="3603070"/>
            <a:ext cx="819150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29.77%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167165" y="1568649"/>
            <a:ext cx="3595688" cy="2362200"/>
          </a:xfrm>
          <a:prstGeom prst="roundRect">
            <a:avLst>
              <a:gd name="adj" fmla="val 2185"/>
            </a:avLst>
          </a:prstGeom>
          <a:solidFill>
            <a:srgbClr val="FFFFFF"/>
          </a:solidFill>
          <a:ln/>
          <a:effectLst>
            <a:outerShdw blurRad="190500" dist="85725" dir="5400000" algn="bl" rotWithShape="0">
              <a:srgbClr val="123B7A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357665" y="1749981"/>
            <a:ext cx="3214688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Contract-wise churn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57665" y="1944767"/>
            <a:ext cx="3214688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375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Monthly contracts churn more than annual contracts.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57665" y="2220516"/>
            <a:ext cx="3214688" cy="828675"/>
          </a:xfrm>
          <a:prstGeom prst="roundRect">
            <a:avLst>
              <a:gd name="adj" fmla="val 13952"/>
            </a:avLst>
          </a:prstGeom>
          <a:solidFill>
            <a:srgbClr val="EAF0F6"/>
          </a:solidFill>
          <a:ln/>
        </p:spPr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400" y="2356724"/>
            <a:ext cx="133350" cy="13335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680413" y="2344817"/>
            <a:ext cx="1366837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Monthly contracts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448638" y="2366249"/>
            <a:ext cx="100012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HIGHER CHURN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481490" y="2587229"/>
            <a:ext cx="2967038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More customer movement, less retention stability.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357665" y="3183018"/>
            <a:ext cx="3214688" cy="652463"/>
          </a:xfrm>
          <a:prstGeom prst="roundRect">
            <a:avLst>
              <a:gd name="adj" fmla="val 22505"/>
            </a:avLst>
          </a:prstGeom>
          <a:solidFill>
            <a:srgbClr val="F5F7FA"/>
          </a:solidFill>
          <a:ln/>
        </p:spPr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400" y="3317796"/>
            <a:ext cx="133350" cy="13335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5682348" y="3305890"/>
            <a:ext cx="1281112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Annual contracts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5481490" y="3549730"/>
            <a:ext cx="2967038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More stable tenure, lower churn pressure.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381000" y="4120039"/>
            <a:ext cx="8382000" cy="719137"/>
          </a:xfrm>
          <a:prstGeom prst="roundRect">
            <a:avLst>
              <a:gd name="adj" fmla="val 20210"/>
            </a:avLst>
          </a:prstGeom>
          <a:solidFill>
            <a:srgbClr val="123B7A"/>
          </a:solidFill>
          <a:ln/>
        </p:spPr>
      </p:sp>
      <p:sp>
        <p:nvSpPr>
          <p:cNvPr id="41" name="Shape 37"/>
          <p:cNvSpPr/>
          <p:nvPr/>
        </p:nvSpPr>
        <p:spPr>
          <a:xfrm>
            <a:off x="542925" y="4355783"/>
            <a:ext cx="247650" cy="247650"/>
          </a:xfrm>
          <a:prstGeom prst="roundRect">
            <a:avLst>
              <a:gd name="adj" fmla="val 28402"/>
            </a:avLst>
          </a:prstGeom>
          <a:solidFill>
            <a:srgbClr val="0FA3B1"/>
          </a:solidFill>
          <a:ln/>
        </p:spPr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75" y="4412933"/>
            <a:ext cx="133350" cy="133350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875229" y="4254817"/>
            <a:ext cx="5624512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Verdict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875229" y="4409123"/>
            <a:ext cx="5624512" cy="2952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EAF0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Churn concentrates at the lower end of the plan stack and is stronger on monthly contracts than annual ones.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6633090" y="4360545"/>
            <a:ext cx="1966912" cy="238125"/>
          </a:xfrm>
          <a:prstGeom prst="roundRect">
            <a:avLst>
              <a:gd name="adj" fmla="val 48000"/>
            </a:avLst>
          </a:prstGeom>
          <a:solidFill>
            <a:srgbClr val="0FA3B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25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Retention focus: Monthly + Basic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381000" y="343852"/>
            <a:ext cx="83820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9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535782"/>
            <a:ext cx="4667250" cy="3190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 from the Analysis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81000" y="922020"/>
            <a:ext cx="5334000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quick viva-ready summary of churn, retention, and the revenue exposure hidden inside the basic plan.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9809" y="1597819"/>
            <a:ext cx="2619375" cy="2924175"/>
          </a:xfrm>
          <a:prstGeom prst="roundRect">
            <a:avLst>
              <a:gd name="adj" fmla="val 1777"/>
            </a:avLst>
          </a:prstGeom>
          <a:solidFill>
            <a:srgbClr val="FFFFFF"/>
          </a:solidFill>
          <a:ln/>
          <a:effectLst>
            <a:outerShdw blurRad="133350" dist="47625" dir="5400000" algn="bl" rotWithShape="0">
              <a:srgbClr val="0F172A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1975" y="1779270"/>
            <a:ext cx="257175" cy="257175"/>
          </a:xfrm>
          <a:prstGeom prst="roundRect">
            <a:avLst>
              <a:gd name="adj" fmla="val 26337"/>
            </a:avLst>
          </a:prstGeom>
          <a:solidFill>
            <a:srgbClr val="E6F5F3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8" y="1841183"/>
            <a:ext cx="133350" cy="1333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6748" y="1834039"/>
            <a:ext cx="1071563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Churn pressure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0784" y="2141220"/>
            <a:ext cx="2257425" cy="2667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75"/>
              </a:spcAft>
              <a:buNone/>
            </a:pPr>
            <a:r>
              <a:rPr lang="en-US" sz="21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30.67%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61975" y="2456022"/>
            <a:ext cx="2000250" cy="4619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975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Overall churn is material, so retention work should start with the largest exit drivers.</a:t>
            </a:r>
            <a:endParaRPr lang="en-US" sz="9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" y="3061335"/>
            <a:ext cx="104775" cy="1047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709" y="3041809"/>
            <a:ext cx="209550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Basic plan shows the highest churn rate.</a:t>
            </a:r>
            <a:endParaRPr lang="en-US" sz="9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" y="3446145"/>
            <a:ext cx="104775" cy="1047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2709" y="3426619"/>
            <a:ext cx="209550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Plan-level churn is where intervention matters most.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3197989" y="1597819"/>
            <a:ext cx="2747962" cy="2924175"/>
          </a:xfrm>
          <a:prstGeom prst="roundRect">
            <a:avLst>
              <a:gd name="adj" fmla="val 1615"/>
            </a:avLst>
          </a:prstGeom>
          <a:solidFill>
            <a:srgbClr val="FFFFFF"/>
          </a:solidFill>
          <a:ln w="3810">
            <a:solidFill>
              <a:srgbClr val="DCE7F2"/>
            </a:solidFill>
            <a:prstDash val="solid"/>
          </a:ln>
          <a:effectLst>
            <a:outerShdw blurRad="171450" dist="66675" dir="5400000" algn="bl" rotWithShape="0">
              <a:srgbClr val="123B7A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3392328" y="1783081"/>
            <a:ext cx="257175" cy="257175"/>
          </a:xfrm>
          <a:prstGeom prst="roundRect">
            <a:avLst>
              <a:gd name="adj" fmla="val 26337"/>
            </a:avLst>
          </a:prstGeom>
          <a:solidFill>
            <a:srgbClr val="EAF7F8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4240" y="1844993"/>
            <a:ext cx="133350" cy="1333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716952" y="1837849"/>
            <a:ext cx="1333500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Retention strength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3393132" y="2145031"/>
            <a:ext cx="904875" cy="2667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69.33%</a:t>
            </a:r>
            <a:endParaRPr lang="en-US" sz="2100" dirty="0"/>
          </a:p>
        </p:txBody>
      </p:sp>
      <p:sp>
        <p:nvSpPr>
          <p:cNvPr id="22" name="Text 16"/>
          <p:cNvSpPr/>
          <p:nvPr/>
        </p:nvSpPr>
        <p:spPr>
          <a:xfrm>
            <a:off x="4384418" y="2250996"/>
            <a:ext cx="461962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1"/>
              </a:lnSpc>
              <a:buNone/>
            </a:pPr>
            <a:r>
              <a:rPr lang="en-US" sz="8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retained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3392328" y="2469357"/>
            <a:ext cx="2000250" cy="4619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975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business still retains a strong majority, giving a solid base to protect and expand.</a:t>
            </a:r>
            <a:endParaRPr lang="en-US" sz="9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2328" y="3074670"/>
            <a:ext cx="104775" cy="10477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555176" y="3055144"/>
            <a:ext cx="2195513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Retention remains stronger than churn.</a:t>
            </a:r>
            <a:endParaRPr lang="en-US" sz="9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2328" y="3459481"/>
            <a:ext cx="104775" cy="10477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555176" y="3439954"/>
            <a:ext cx="2195513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is a repair-and-grow story, not a rescue.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6144785" y="1597819"/>
            <a:ext cx="2619375" cy="2924175"/>
          </a:xfrm>
          <a:prstGeom prst="roundRect">
            <a:avLst>
              <a:gd name="adj" fmla="val 1777"/>
            </a:avLst>
          </a:prstGeom>
          <a:solidFill>
            <a:srgbClr val="FFFFFF"/>
          </a:solidFill>
          <a:ln/>
          <a:effectLst>
            <a:outerShdw blurRad="133350" dist="47625" dir="5400000" algn="bl" rotWithShape="0">
              <a:srgbClr val="0F172A">
                <a:alpha val="5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6326921" y="1779270"/>
            <a:ext cx="257175" cy="257175"/>
          </a:xfrm>
          <a:prstGeom prst="roundRect">
            <a:avLst>
              <a:gd name="adj" fmla="val 26337"/>
            </a:avLst>
          </a:prstGeom>
          <a:solidFill>
            <a:srgbClr val="EEF2FF"/>
          </a:solidFill>
          <a:ln/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8833" y="1841183"/>
            <a:ext cx="133350" cy="13335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651068" y="1834039"/>
            <a:ext cx="1081087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at risk</a:t>
            </a:r>
            <a:endParaRPr lang="en-US" sz="1000" dirty="0"/>
          </a:p>
        </p:txBody>
      </p:sp>
      <p:sp>
        <p:nvSpPr>
          <p:cNvPr id="32" name="Text 23"/>
          <p:cNvSpPr/>
          <p:nvPr/>
        </p:nvSpPr>
        <p:spPr>
          <a:xfrm>
            <a:off x="6325760" y="2141220"/>
            <a:ext cx="2257425" cy="2667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375"/>
              </a:spcAft>
              <a:buNone/>
            </a:pPr>
            <a:r>
              <a:rPr lang="en-US" sz="21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₹77,089</a:t>
            </a:r>
            <a:endParaRPr lang="en-US" sz="2100" dirty="0"/>
          </a:p>
        </p:txBody>
      </p:sp>
      <p:sp>
        <p:nvSpPr>
          <p:cNvPr id="33" name="Text 24"/>
          <p:cNvSpPr/>
          <p:nvPr/>
        </p:nvSpPr>
        <p:spPr>
          <a:xfrm>
            <a:off x="6326921" y="2456022"/>
            <a:ext cx="2000250" cy="4619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975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Monthly revenue exposure is large enough to justify focused retention actions.</a:t>
            </a:r>
            <a:endParaRPr lang="en-US" sz="90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6921" y="3061335"/>
            <a:ext cx="104775" cy="104775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487685" y="3041809"/>
            <a:ext cx="209550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churn reduction directly protects cash flow.</a:t>
            </a:r>
            <a:endParaRPr lang="en-US" sz="90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6921" y="3446145"/>
            <a:ext cx="104775" cy="104775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487685" y="3426619"/>
            <a:ext cx="209550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Basic-plan customers are the key risk pool.</a:t>
            </a:r>
            <a:endParaRPr lang="en-US" sz="900" dirty="0"/>
          </a:p>
        </p:txBody>
      </p:sp>
      <p:sp>
        <p:nvSpPr>
          <p:cNvPr id="38" name="Text 27"/>
          <p:cNvSpPr/>
          <p:nvPr/>
        </p:nvSpPr>
        <p:spPr>
          <a:xfrm>
            <a:off x="381655" y="4682491"/>
            <a:ext cx="328612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Five viva points are compressed into three blocks for fast recall.</a:t>
            </a:r>
            <a:endParaRPr lang="en-US" sz="800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9180" y="4718209"/>
            <a:ext cx="66675" cy="66675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5473480" y="4684871"/>
            <a:ext cx="3289520" cy="129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90"/>
              </a:lnSpc>
              <a:buNone/>
            </a:pPr>
            <a:r>
              <a:rPr lang="en-US" sz="8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Retain the base, fix the basic plan, protect ₹77,089 monthly.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419100" y="343852"/>
            <a:ext cx="53340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525"/>
              </a:spcAft>
              <a:buNone/>
            </a:pPr>
            <a:r>
              <a:rPr lang="en-US" sz="9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RECOMMENDATIONS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9100" y="534233"/>
            <a:ext cx="5334000" cy="623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48"/>
              </a:lnSpc>
              <a:buNone/>
            </a:pPr>
            <a:r>
              <a:rPr lang="en-US" sz="24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 retention where churn risk is highest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9100" y="1242775"/>
            <a:ext cx="5238750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675"/>
              </a:spcBef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the highest-risk customer segments, reduce avoidable cancellations, and act earlier on service issues.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296150" y="342781"/>
            <a:ext cx="1428750" cy="1281112"/>
          </a:xfrm>
          <a:prstGeom prst="roundRect">
            <a:avLst>
              <a:gd name="adj" fmla="val 6368"/>
            </a:avLst>
          </a:prstGeom>
          <a:solidFill>
            <a:srgbClr val="FFFFFF"/>
          </a:solidFill>
          <a:ln/>
          <a:effectLst>
            <a:outerShdw blurRad="133350" dist="47625" dir="5400000" algn="bl" rotWithShape="0">
              <a:srgbClr val="1F2937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19975" y="586146"/>
            <a:ext cx="57150" cy="57150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10" name="Text 8"/>
          <p:cNvSpPr/>
          <p:nvPr/>
        </p:nvSpPr>
        <p:spPr>
          <a:xfrm>
            <a:off x="7534632" y="552807"/>
            <a:ext cx="65722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8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Priority lens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19975" y="743307"/>
            <a:ext cx="1181100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Retention first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19975" y="952381"/>
            <a:ext cx="1181100" cy="4619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Bef>
                <a:spcPts val="375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Prioritize Basic-plan and monthly-contract customers.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8624" y="1928635"/>
            <a:ext cx="4667250" cy="909638"/>
          </a:xfrm>
          <a:prstGeom prst="roundRect">
            <a:avLst>
              <a:gd name="adj" fmla="val 14736"/>
            </a:avLst>
          </a:prstGeom>
          <a:solidFill>
            <a:srgbClr val="FFFFFF"/>
          </a:solidFill>
          <a:ln/>
          <a:effectLst>
            <a:outerShdw blurRad="133350" dist="47625" dir="5400000" algn="bl" rotWithShape="0">
              <a:srgbClr val="1F2937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0550" y="2090500"/>
            <a:ext cx="266700" cy="266700"/>
          </a:xfrm>
          <a:prstGeom prst="roundRect">
            <a:avLst>
              <a:gd name="adj" fmla="val 24490"/>
            </a:avLst>
          </a:prstGeom>
          <a:solidFill>
            <a:srgbClr val="EAF0F6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2157175"/>
            <a:ext cx="133350" cy="1333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71074" y="2090500"/>
            <a:ext cx="3943350" cy="314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375"/>
              </a:spcAft>
              <a:buNone/>
            </a:pPr>
            <a:r>
              <a:rPr lang="en-US" sz="11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Finding: Basic-plan and monthly-contract customers are the highest-priority segment.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71074" y="2452927"/>
            <a:ext cx="3943350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Action: Build a targeted save list for these accounts and route them into a focused retention workflow.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71074" y="2833925"/>
            <a:ext cx="394335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Bef>
                <a:spcPts val="375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Expected benefit: Earlier intervention on the customers most likely to leave.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18624" y="2971681"/>
            <a:ext cx="4667250" cy="823913"/>
          </a:xfrm>
          <a:prstGeom prst="roundRect">
            <a:avLst>
              <a:gd name="adj" fmla="val 17963"/>
            </a:avLst>
          </a:prstGeom>
          <a:solidFill>
            <a:srgbClr val="FFFFFF"/>
          </a:solidFill>
          <a:ln/>
          <a:effectLst>
            <a:outerShdw blurRad="133350" dist="47625" dir="5400000" algn="bl" rotWithShape="0">
              <a:srgbClr val="1F2937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0550" y="3133606"/>
            <a:ext cx="266700" cy="266700"/>
          </a:xfrm>
          <a:prstGeom prst="roundRect">
            <a:avLst>
              <a:gd name="adj" fmla="val 24490"/>
            </a:avLst>
          </a:prstGeom>
          <a:solidFill>
            <a:srgbClr val="EAF0F6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3200281"/>
            <a:ext cx="133350" cy="13335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71074" y="3133606"/>
            <a:ext cx="3943350" cy="314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375"/>
              </a:spcAft>
              <a:buNone/>
            </a:pPr>
            <a:r>
              <a:rPr lang="en-US" sz="11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Finding: Price-related cancellations need a direct response.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971074" y="3496033"/>
            <a:ext cx="3943350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Action: Investigate the price-triggered churn path and test targeted retention offers before cancellation completes.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971074" y="3878462"/>
            <a:ext cx="394335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Bef>
                <a:spcPts val="375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Expected benefit: Better save rates without broad discounting.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418624" y="3929003"/>
            <a:ext cx="4667250" cy="909638"/>
          </a:xfrm>
          <a:prstGeom prst="roundRect">
            <a:avLst>
              <a:gd name="adj" fmla="val 14736"/>
            </a:avLst>
          </a:prstGeom>
          <a:solidFill>
            <a:srgbClr val="FFFFFF"/>
          </a:solidFill>
          <a:ln/>
          <a:effectLst>
            <a:outerShdw blurRad="133350" dist="47625" dir="5400000" algn="bl" rotWithShape="0">
              <a:srgbClr val="1F2937">
                <a:alpha val="6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90550" y="4090869"/>
            <a:ext cx="266700" cy="266700"/>
          </a:xfrm>
          <a:prstGeom prst="roundRect">
            <a:avLst>
              <a:gd name="adj" fmla="val 24490"/>
            </a:avLst>
          </a:prstGeom>
          <a:solidFill>
            <a:srgbClr val="EAF0F6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" y="4157544"/>
            <a:ext cx="133350" cy="13335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71074" y="4090869"/>
            <a:ext cx="3943350" cy="314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375"/>
              </a:spcAft>
              <a:buNone/>
            </a:pPr>
            <a:r>
              <a:rPr lang="en-US" sz="11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Finding: Revenue at risk varies by market and support experience.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971074" y="4453295"/>
            <a:ext cx="3943350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Action: Monitor revenue at risk by geography and improve support quality to reduce escalations.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971074" y="4834296"/>
            <a:ext cx="394335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Bef>
                <a:spcPts val="375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Expected benefit: Clearer regional action plans and fewer service-driven cancellations.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5276373" y="1928575"/>
            <a:ext cx="3448050" cy="1143000"/>
          </a:xfrm>
          <a:prstGeom prst="roundRect">
            <a:avLst>
              <a:gd name="adj" fmla="val 9333"/>
            </a:avLst>
          </a:prstGeom>
          <a:solidFill>
            <a:srgbClr val="123B7A"/>
          </a:solidFill>
          <a:ln/>
        </p:spPr>
      </p:sp>
      <p:sp>
        <p:nvSpPr>
          <p:cNvPr id="32" name="Text 27"/>
          <p:cNvSpPr/>
          <p:nvPr/>
        </p:nvSpPr>
        <p:spPr>
          <a:xfrm>
            <a:off x="5428773" y="2125505"/>
            <a:ext cx="314325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7"/>
              </a:lnSpc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B8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RECOMMENDED SEQUENCE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5428297" y="2317194"/>
            <a:ext cx="2000250" cy="5572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 the churn trigger, intervene early, then track the savings.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5276373" y="3204449"/>
            <a:ext cx="3448050" cy="1509712"/>
          </a:xfrm>
          <a:prstGeom prst="roundRect">
            <a:avLst>
              <a:gd name="adj" fmla="val 5350"/>
            </a:avLst>
          </a:prstGeom>
          <a:solidFill>
            <a:srgbClr val="FFFFFF"/>
          </a:solidFill>
          <a:ln/>
          <a:effectLst>
            <a:outerShdw blurRad="133350" dist="47625" dir="5400000" algn="bl" rotWithShape="0">
              <a:srgbClr val="1F2937">
                <a:alpha val="6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5428297" y="3357325"/>
            <a:ext cx="161925" cy="161925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6397" y="3395425"/>
            <a:ext cx="85725" cy="85725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666570" y="3357802"/>
            <a:ext cx="2500313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Segment the right customers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5666570" y="3535441"/>
            <a:ext cx="2500313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Basic-plan and monthly-contract accounts.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5428297" y="3793571"/>
            <a:ext cx="161925" cy="161925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6397" y="3831671"/>
            <a:ext cx="85725" cy="85725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665231" y="3794047"/>
            <a:ext cx="2847975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Intervene on price risk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5665231" y="3971687"/>
            <a:ext cx="28479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targeted retention offers before cancellation.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5428297" y="4229814"/>
            <a:ext cx="161925" cy="161925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6397" y="4267914"/>
            <a:ext cx="85725" cy="85725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5665290" y="4230290"/>
            <a:ext cx="2290762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Strengthen service quality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5665290" y="4407932"/>
            <a:ext cx="2290762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Reduce escalations and revenue at risk.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447675"/>
            <a:ext cx="76200" cy="76200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6" name="Text 4"/>
          <p:cNvSpPr/>
          <p:nvPr/>
        </p:nvSpPr>
        <p:spPr>
          <a:xfrm>
            <a:off x="600670" y="400050"/>
            <a:ext cx="2105025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 &amp; FUTURE SCOPE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7701"/>
            <a:ext cx="5143500" cy="3190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4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analysis to action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062991"/>
            <a:ext cx="5619750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Python analysis, KPI calculations, Power BI dashboard, and DAX measures to turn churn into a clear business story.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82128"/>
            <a:ext cx="2628900" cy="1019175"/>
          </a:xfrm>
          <a:prstGeom prst="roundRect">
            <a:avLst>
              <a:gd name="adj" fmla="val 11739"/>
            </a:avLst>
          </a:prstGeom>
          <a:solidFill>
            <a:srgbClr val="FFFFFF"/>
          </a:solidFill>
          <a:ln/>
          <a:effectLst>
            <a:outerShdw blurRad="142875" dist="47625" dir="5400000" algn="bl" rotWithShape="0">
              <a:srgbClr val="123B7A">
                <a:alpha val="6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60722"/>
            <a:ext cx="123825" cy="12382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90575" y="1955483"/>
            <a:ext cx="347900" cy="129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09600" y="2101216"/>
            <a:ext cx="2324100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30.67%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609600" y="2491741"/>
            <a:ext cx="232410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3"/>
              </a:lnSpc>
              <a:spcBef>
                <a:spcPts val="375"/>
              </a:spcBef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57550" y="1782128"/>
            <a:ext cx="2628900" cy="1019175"/>
          </a:xfrm>
          <a:prstGeom prst="roundRect">
            <a:avLst>
              <a:gd name="adj" fmla="val 11739"/>
            </a:avLst>
          </a:prstGeom>
          <a:solidFill>
            <a:srgbClr val="FFFFFF"/>
          </a:solidFill>
          <a:ln/>
          <a:effectLst>
            <a:outerShdw blurRad="142875" dist="47625" dir="5400000" algn="bl" rotWithShape="0">
              <a:srgbClr val="123B7A">
                <a:alpha val="6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950" y="1960722"/>
            <a:ext cx="123825" cy="12382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90925" y="1955483"/>
            <a:ext cx="347900" cy="129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3409950" y="2101216"/>
            <a:ext cx="2324100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69.33%</a:t>
            </a:r>
            <a:endParaRPr lang="en-US" sz="2700" dirty="0"/>
          </a:p>
        </p:txBody>
      </p:sp>
      <p:sp>
        <p:nvSpPr>
          <p:cNvPr id="18" name="Text 14"/>
          <p:cNvSpPr/>
          <p:nvPr/>
        </p:nvSpPr>
        <p:spPr>
          <a:xfrm>
            <a:off x="3409950" y="2491741"/>
            <a:ext cx="232410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3"/>
              </a:lnSpc>
              <a:spcBef>
                <a:spcPts val="375"/>
              </a:spcBef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Retention rate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057900" y="1782128"/>
            <a:ext cx="2628900" cy="1019175"/>
          </a:xfrm>
          <a:prstGeom prst="roundRect">
            <a:avLst>
              <a:gd name="adj" fmla="val 11739"/>
            </a:avLst>
          </a:prstGeom>
          <a:solidFill>
            <a:srgbClr val="FFFFFF"/>
          </a:solidFill>
          <a:ln/>
          <a:effectLst>
            <a:outerShdw blurRad="142875" dist="47625" dir="5400000" algn="bl" rotWithShape="0">
              <a:srgbClr val="123B7A">
                <a:alpha val="6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960722"/>
            <a:ext cx="123825" cy="12382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91275" y="1955483"/>
            <a:ext cx="389037" cy="129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6210300" y="2139316"/>
            <a:ext cx="2324100" cy="3048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₹77,089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6210300" y="2491741"/>
            <a:ext cx="232410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3"/>
              </a:lnSpc>
              <a:spcBef>
                <a:spcPts val="375"/>
              </a:spcBef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Monthly revenue affected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57200" y="2991327"/>
            <a:ext cx="8229600" cy="180975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161925" dist="57150" dir="5400000" algn="bl" rotWithShape="0">
              <a:srgbClr val="123B7A">
                <a:alpha val="5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647700" y="3172778"/>
            <a:ext cx="3619500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scope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47700" y="3420428"/>
            <a:ext cx="3619500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9"/>
              </a:lnSpc>
              <a:spcBef>
                <a:spcPts val="375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Extend this foundation into predictive, real-time customer retention operations.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7591779" y="3172778"/>
            <a:ext cx="904875" cy="290513"/>
          </a:xfrm>
          <a:prstGeom prst="roundRect">
            <a:avLst>
              <a:gd name="adj" fmla="val 39344"/>
            </a:avLst>
          </a:prstGeom>
          <a:solidFill>
            <a:srgbClr val="EAF0F6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7862" y="3265647"/>
            <a:ext cx="104775" cy="10477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830262" y="3250883"/>
            <a:ext cx="580313" cy="129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123B7A"/>
                </a:solidFill>
                <a:highlight>
                  <a:srgbClr val="EAF0F6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648057" y="3930016"/>
            <a:ext cx="2043113" cy="357188"/>
          </a:xfrm>
          <a:prstGeom prst="roundRect">
            <a:avLst>
              <a:gd name="adj" fmla="val 15360"/>
            </a:avLst>
          </a:prstGeom>
          <a:solidFill>
            <a:srgbClr val="F5F7FA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Machine learning prediction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2777547" y="3930016"/>
            <a:ext cx="1566862" cy="357188"/>
          </a:xfrm>
          <a:prstGeom prst="roundRect">
            <a:avLst>
              <a:gd name="adj" fmla="val 15360"/>
            </a:avLst>
          </a:prstGeom>
          <a:solidFill>
            <a:srgbClr val="F5F7FA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dashboard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4431265" y="3930016"/>
            <a:ext cx="1162050" cy="357188"/>
          </a:xfrm>
          <a:prstGeom prst="roundRect">
            <a:avLst>
              <a:gd name="adj" fmla="val 15360"/>
            </a:avLst>
          </a:prstGeom>
          <a:solidFill>
            <a:srgbClr val="F5F7FA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Alerts and CLV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5679311" y="3930016"/>
            <a:ext cx="1266825" cy="357188"/>
          </a:xfrm>
          <a:prstGeom prst="roundRect">
            <a:avLst>
              <a:gd name="adj" fmla="val 15360"/>
            </a:avLst>
          </a:prstGeom>
          <a:solidFill>
            <a:srgbClr val="F5F7FA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00" b="1" dirty="0">
                <a:solidFill>
                  <a:srgbClr val="123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CRM integration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647373" y="4477703"/>
            <a:ext cx="666750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7025073" y="4477703"/>
            <a:ext cx="1471613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 &amp; discussion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1873</Words>
  <Application>Microsoft Office PowerPoint</Application>
  <PresentationFormat>On-screen Show (16:9)</PresentationFormat>
  <Paragraphs>302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Monaco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chinmay kulkarni</cp:lastModifiedBy>
  <cp:revision>1</cp:revision>
  <dcterms:created xsi:type="dcterms:W3CDTF">2026-08-19T20:14:59Z</dcterms:created>
  <dcterms:modified xsi:type="dcterms:W3CDTF">2026-08-19T20:32:35Z</dcterms:modified>
</cp:coreProperties>
</file>